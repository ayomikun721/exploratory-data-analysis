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2" r:id="rId3"/>
    <p:sldId id="313" r:id="rId4"/>
    <p:sldId id="257" r:id="rId5"/>
    <p:sldId id="258" r:id="rId6"/>
    <p:sldId id="259" r:id="rId7"/>
    <p:sldId id="260" r:id="rId8"/>
    <p:sldId id="314"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0" r:id="rId28"/>
    <p:sldId id="281" r:id="rId29"/>
    <p:sldId id="279" r:id="rId30"/>
    <p:sldId id="282" r:id="rId31"/>
    <p:sldId id="287" r:id="rId32"/>
    <p:sldId id="288" r:id="rId33"/>
    <p:sldId id="283" r:id="rId34"/>
    <p:sldId id="284" r:id="rId35"/>
    <p:sldId id="285" r:id="rId36"/>
    <p:sldId id="286" r:id="rId37"/>
    <p:sldId id="289" r:id="rId38"/>
    <p:sldId id="290" r:id="rId39"/>
    <p:sldId id="291" r:id="rId40"/>
    <p:sldId id="292" r:id="rId41"/>
    <p:sldId id="293" r:id="rId42"/>
    <p:sldId id="294" r:id="rId43"/>
    <p:sldId id="295" r:id="rId44"/>
    <p:sldId id="296" r:id="rId45"/>
    <p:sldId id="297" r:id="rId46"/>
    <p:sldId id="301" r:id="rId47"/>
    <p:sldId id="298" r:id="rId48"/>
    <p:sldId id="299" r:id="rId49"/>
    <p:sldId id="300" r:id="rId50"/>
    <p:sldId id="302" r:id="rId51"/>
    <p:sldId id="303" r:id="rId52"/>
    <p:sldId id="304" r:id="rId53"/>
    <p:sldId id="305" r:id="rId54"/>
    <p:sldId id="307" r:id="rId55"/>
    <p:sldId id="308" r:id="rId56"/>
    <p:sldId id="306" r:id="rId57"/>
    <p:sldId id="311" r:id="rId58"/>
    <p:sldId id="31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640FE368-F3BE-4386-88EF-9D5C20D7925E}"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529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54519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207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D111B7-D0BA-4F94-AA57-BC0CCBE54C47}"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1682829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D111B7-D0BA-4F94-AA57-BC0CCBE54C47}"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0FE368-F3BE-4386-88EF-9D5C20D7925E}"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9489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D111B7-D0BA-4F94-AA57-BC0CCBE54C47}"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0FE368-F3BE-4386-88EF-9D5C20D7925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9391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111B7-D0BA-4F94-AA57-BC0CCBE54C47}"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3231605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D111B7-D0BA-4F94-AA57-BC0CCBE54C47}"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FE368-F3BE-4386-88EF-9D5C20D7925E}"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1254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D111B7-D0BA-4F94-AA57-BC0CCBE54C47}"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3547813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D111B7-D0BA-4F94-AA57-BC0CCBE54C47}"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271937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9133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7739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spTree>
    <p:extLst>
      <p:ext uri="{BB962C8B-B14F-4D97-AF65-F5344CB8AC3E}">
        <p14:creationId xmlns:p14="http://schemas.microsoft.com/office/powerpoint/2010/main" val="650201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51769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3016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2054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111B7-D0BA-4F94-AA57-BC0CCBE54C47}"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FE368-F3BE-4386-88EF-9D5C20D7925E}"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68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D111B7-D0BA-4F94-AA57-BC0CCBE54C47}" type="datetimeFigureOut">
              <a:rPr lang="en-US" smtClean="0"/>
              <a:t>7/8/2026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40FE368-F3BE-4386-88EF-9D5C20D7925E}" type="slidenum">
              <a:rPr lang="en-US" smtClean="0"/>
              <a:t>‹#›</a:t>
            </a:fld>
            <a:endParaRPr lang="en-US"/>
          </a:p>
        </p:txBody>
      </p:sp>
    </p:spTree>
    <p:extLst>
      <p:ext uri="{BB962C8B-B14F-4D97-AF65-F5344CB8AC3E}">
        <p14:creationId xmlns:p14="http://schemas.microsoft.com/office/powerpoint/2010/main" val="1655081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2C465-80C8-5527-E3FF-26BFD1AB9A47}"/>
              </a:ext>
            </a:extLst>
          </p:cNvPr>
          <p:cNvSpPr>
            <a:spLocks noGrp="1"/>
          </p:cNvSpPr>
          <p:nvPr>
            <p:ph type="ctrTitle"/>
          </p:nvPr>
        </p:nvSpPr>
        <p:spPr/>
        <p:txBody>
          <a:bodyPr/>
          <a:lstStyle/>
          <a:p>
            <a:r>
              <a:rPr lang="en-US" sz="2400" b="1" dirty="0">
                <a:latin typeface="Times New Roman" panose="02020603050405020304" pitchFamily="18" charset="0"/>
                <a:cs typeface="Times New Roman" panose="02020603050405020304" pitchFamily="18" charset="0"/>
              </a:rPr>
              <a:t>     EXPLORATORY DATA ANALYSIS OF THE DANISH HOUSING MARKET: A DATA-DRIVEN APPROACH TO PROPERTY PRICE DETERMINANTS</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76ED8E20-182D-E1AB-F460-58565CCFFB64}"/>
              </a:ext>
            </a:extLst>
          </p:cNvPr>
          <p:cNvSpPr>
            <a:spLocks noGrp="1"/>
          </p:cNvSpPr>
          <p:nvPr>
            <p:ph type="subTitle"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AKINLADE AYOMIKUN DORCAS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8</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JULY, 2026</a:t>
            </a:r>
          </a:p>
        </p:txBody>
      </p:sp>
    </p:spTree>
    <p:extLst>
      <p:ext uri="{BB962C8B-B14F-4D97-AF65-F5344CB8AC3E}">
        <p14:creationId xmlns:p14="http://schemas.microsoft.com/office/powerpoint/2010/main" val="3480135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CE4E-634A-16C3-C68A-DBBC7245538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E3176E9B-DEC5-44D0-B516-31D6291E04A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Aim and Objectives</a:t>
            </a:r>
          </a:p>
          <a:p>
            <a:r>
              <a:rPr lang="en-US" dirty="0">
                <a:latin typeface="Times New Roman" panose="02020603050405020304" pitchFamily="18" charset="0"/>
                <a:cs typeface="Times New Roman" panose="02020603050405020304" pitchFamily="18" charset="0"/>
              </a:rPr>
              <a:t>Literature Review</a:t>
            </a:r>
          </a:p>
          <a:p>
            <a:r>
              <a:rPr lang="en-US" dirty="0">
                <a:latin typeface="Times New Roman" panose="02020603050405020304" pitchFamily="18" charset="0"/>
                <a:cs typeface="Times New Roman" panose="02020603050405020304" pitchFamily="18" charset="0"/>
              </a:rPr>
              <a:t>Methodology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86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507C9-B5DA-FFCA-3EAD-620ADC2B61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Contents</a:t>
            </a:r>
            <a:endParaRPr lang="en-US" dirty="0"/>
          </a:p>
        </p:txBody>
      </p:sp>
      <p:sp>
        <p:nvSpPr>
          <p:cNvPr id="3" name="Content Placeholder 2">
            <a:extLst>
              <a:ext uri="{FF2B5EF4-FFF2-40B4-BE49-F238E27FC236}">
                <a16:creationId xmlns:a16="http://schemas.microsoft.com/office/drawing/2014/main" id="{8DDF16DB-3293-81BF-0DFD-32B3F32A63C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Solution to Research Questions</a:t>
            </a:r>
          </a:p>
          <a:p>
            <a:r>
              <a:rPr lang="en-US" dirty="0">
                <a:latin typeface="Times New Roman" panose="02020603050405020304" pitchFamily="18" charset="0"/>
                <a:cs typeface="Times New Roman" panose="02020603050405020304" pitchFamily="18" charset="0"/>
              </a:rPr>
              <a:t>Key Findings</a:t>
            </a:r>
          </a:p>
          <a:p>
            <a:r>
              <a:rPr lang="en-US" dirty="0">
                <a:latin typeface="Times New Roman" panose="02020603050405020304" pitchFamily="18" charset="0"/>
                <a:cs typeface="Times New Roman" panose="02020603050405020304" pitchFamily="18" charset="0"/>
              </a:rPr>
              <a:t>Limitations</a:t>
            </a:r>
          </a:p>
          <a:p>
            <a:r>
              <a:rPr lang="en-US" dirty="0">
                <a:latin typeface="Times New Roman" panose="02020603050405020304" pitchFamily="18" charset="0"/>
                <a:cs typeface="Times New Roman" panose="02020603050405020304" pitchFamily="18" charset="0"/>
              </a:rPr>
              <a:t>Conclusion and recommendations</a:t>
            </a:r>
          </a:p>
          <a:p>
            <a:r>
              <a:rPr lang="en-US" dirty="0">
                <a:latin typeface="Times New Roman" panose="02020603050405020304" pitchFamily="18" charset="0"/>
                <a:cs typeface="Times New Roman" panose="02020603050405020304" pitchFamily="18" charset="0"/>
              </a:rPr>
              <a:t>References</a:t>
            </a:r>
          </a:p>
          <a:p>
            <a:endParaRPr lang="en-US" dirty="0"/>
          </a:p>
        </p:txBody>
      </p:sp>
    </p:spTree>
    <p:extLst>
      <p:ext uri="{BB962C8B-B14F-4D97-AF65-F5344CB8AC3E}">
        <p14:creationId xmlns:p14="http://schemas.microsoft.com/office/powerpoint/2010/main" val="2011723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CBEB-5938-09F2-BC03-94731ABDB3C4}"/>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0F10586-C0A8-73F2-85BE-E3B41147920A}"/>
              </a:ext>
            </a:extLst>
          </p:cNvPr>
          <p:cNvSpPr>
            <a:spLocks noGrp="1"/>
          </p:cNvSpPr>
          <p:nvPr>
            <p:ph idx="1"/>
          </p:nvPr>
        </p:nvSpPr>
        <p:spPr/>
        <p:txBody>
          <a:bodyPr>
            <a:noAutofit/>
          </a:bodyPr>
          <a:lstStyle/>
          <a:p>
            <a:r>
              <a:rPr lang="en-US" sz="1950" dirty="0">
                <a:latin typeface="Times New Roman" panose="02020603050405020304" pitchFamily="18" charset="0"/>
                <a:cs typeface="Times New Roman" panose="02020603050405020304" pitchFamily="18" charset="0"/>
              </a:rPr>
              <a:t>This study explores the Danish housing market using Exploratory Data Analysis (EDA) techniques in Python. </a:t>
            </a:r>
          </a:p>
          <a:p>
            <a:r>
              <a:rPr lang="en-US" sz="1950" dirty="0">
                <a:latin typeface="Times New Roman" panose="02020603050405020304" pitchFamily="18" charset="0"/>
                <a:cs typeface="Times New Roman" panose="02020603050405020304" pitchFamily="18" charset="0"/>
              </a:rPr>
              <a:t>The dataset was cleaned, transformed, and analyzed to identify patterns in housing prices across different regions, property types, property ages, and construction periods. </a:t>
            </a:r>
          </a:p>
          <a:p>
            <a:r>
              <a:rPr lang="en-US" sz="1950" dirty="0">
                <a:latin typeface="Times New Roman" panose="02020603050405020304" pitchFamily="18" charset="0"/>
                <a:cs typeface="Times New Roman" panose="02020603050405020304" pitchFamily="18" charset="0"/>
              </a:rPr>
              <a:t>Various statistical summaries and visualizations including bar charts, box plots, histograms, line plots, pie charts, and heatmaps were used to answer fifteen research questions. </a:t>
            </a:r>
          </a:p>
          <a:p>
            <a:r>
              <a:rPr lang="en-US" sz="1950" dirty="0">
                <a:latin typeface="Times New Roman" panose="02020603050405020304" pitchFamily="18" charset="0"/>
                <a:cs typeface="Times New Roman" panose="02020603050405020304" pitchFamily="18" charset="0"/>
              </a:rPr>
              <a:t>The findings show that housing prices are significantly influenced by location, property type, property size, age, and construction decade. </a:t>
            </a:r>
          </a:p>
          <a:p>
            <a:r>
              <a:rPr lang="en-US" sz="1950" dirty="0">
                <a:latin typeface="Times New Roman" panose="02020603050405020304" pitchFamily="18" charset="0"/>
                <a:cs typeface="Times New Roman" panose="02020603050405020304" pitchFamily="18" charset="0"/>
              </a:rPr>
              <a:t>The study demonstrates how data analytics can provide valuable insights for buyers, sellers, investors, and policymakers.</a:t>
            </a:r>
          </a:p>
        </p:txBody>
      </p:sp>
    </p:spTree>
    <p:extLst>
      <p:ext uri="{BB962C8B-B14F-4D97-AF65-F5344CB8AC3E}">
        <p14:creationId xmlns:p14="http://schemas.microsoft.com/office/powerpoint/2010/main" val="407478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AF7FC-7215-B8ED-A894-23C276392C2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620E020-18CE-4F65-5106-6B0CA04787BB}"/>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housing market is an important sector of every economy. House prices are influenced by several factors such as location, property size, property type, age of the building, and market demand.</a:t>
            </a:r>
          </a:p>
          <a:p>
            <a:r>
              <a:rPr lang="en-US" dirty="0">
                <a:latin typeface="Times New Roman" panose="02020603050405020304" pitchFamily="18" charset="0"/>
                <a:cs typeface="Times New Roman" panose="02020603050405020304" pitchFamily="18" charset="0"/>
              </a:rPr>
              <a:t>Exploratory Data Analysis (EDA) provides an effective way of discovering hidden trends, relationships, and patterns within housing datasets before applying predictive models.</a:t>
            </a:r>
          </a:p>
          <a:p>
            <a:r>
              <a:rPr lang="en-US" dirty="0">
                <a:latin typeface="Times New Roman" panose="02020603050405020304" pitchFamily="18" charset="0"/>
                <a:cs typeface="Times New Roman" panose="02020603050405020304" pitchFamily="18" charset="0"/>
              </a:rPr>
              <a:t>This study focuses on analyzing the Danish housing market using Python and data visualization techniques.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612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502A2-EAB4-E470-4226-ABAF2BC07B4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Aim</a:t>
            </a:r>
          </a:p>
        </p:txBody>
      </p:sp>
      <p:sp>
        <p:nvSpPr>
          <p:cNvPr id="3" name="Content Placeholder 2">
            <a:extLst>
              <a:ext uri="{FF2B5EF4-FFF2-40B4-BE49-F238E27FC236}">
                <a16:creationId xmlns:a16="http://schemas.microsoft.com/office/drawing/2014/main" id="{14037715-B604-E9DE-2B64-C6171C26CE93}"/>
              </a:ext>
            </a:extLst>
          </p:cNvPr>
          <p:cNvSpPr>
            <a:spLocks noGrp="1"/>
          </p:cNvSpPr>
          <p:nvPr>
            <p:ph idx="1"/>
          </p:nvPr>
        </p:nvSpPr>
        <p:spPr/>
        <p:txBody>
          <a:bodyPr/>
          <a:lstStyle/>
          <a:p>
            <a:r>
              <a:rPr lang="en-US" dirty="0"/>
              <a:t>To perform an Exploratory Data Analysis of the Danish Housing Market.</a:t>
            </a:r>
          </a:p>
          <a:p>
            <a:endParaRPr lang="en-US" dirty="0"/>
          </a:p>
        </p:txBody>
      </p:sp>
    </p:spTree>
    <p:extLst>
      <p:ext uri="{BB962C8B-B14F-4D97-AF65-F5344CB8AC3E}">
        <p14:creationId xmlns:p14="http://schemas.microsoft.com/office/powerpoint/2010/main" val="349474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B2917-7F53-B7B5-9F18-468D522CCD6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6F7467F8-4604-56D7-247A-87488E2516AC}"/>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Clean and prepare the dataset. </a:t>
            </a:r>
          </a:p>
          <a:p>
            <a:r>
              <a:rPr lang="en-US" dirty="0">
                <a:latin typeface="Times New Roman" panose="02020603050405020304" pitchFamily="18" charset="0"/>
                <a:cs typeface="Times New Roman" panose="02020603050405020304" pitchFamily="18" charset="0"/>
              </a:rPr>
              <a:t>Identify missing values and outliers. </a:t>
            </a:r>
          </a:p>
          <a:p>
            <a:r>
              <a:rPr lang="en-US" dirty="0">
                <a:latin typeface="Times New Roman" panose="02020603050405020304" pitchFamily="18" charset="0"/>
                <a:cs typeface="Times New Roman" panose="02020603050405020304" pitchFamily="18" charset="0"/>
              </a:rPr>
              <a:t>Analyze housing prices across regions. </a:t>
            </a:r>
          </a:p>
          <a:p>
            <a:r>
              <a:rPr lang="en-US" dirty="0">
                <a:latin typeface="Times New Roman" panose="02020603050405020304" pitchFamily="18" charset="0"/>
                <a:cs typeface="Times New Roman" panose="02020603050405020304" pitchFamily="18" charset="0"/>
              </a:rPr>
              <a:t>Compare different property types. </a:t>
            </a:r>
          </a:p>
          <a:p>
            <a:r>
              <a:rPr lang="en-US" dirty="0">
                <a:latin typeface="Times New Roman" panose="02020603050405020304" pitchFamily="18" charset="0"/>
                <a:cs typeface="Times New Roman" panose="02020603050405020304" pitchFamily="18" charset="0"/>
              </a:rPr>
              <a:t>Investigate negotiation outcomes. </a:t>
            </a:r>
          </a:p>
          <a:p>
            <a:r>
              <a:rPr lang="en-US" dirty="0">
                <a:latin typeface="Times New Roman" panose="02020603050405020304" pitchFamily="18" charset="0"/>
                <a:cs typeface="Times New Roman" panose="02020603050405020304" pitchFamily="18" charset="0"/>
              </a:rPr>
              <a:t>Study the effect of property age. </a:t>
            </a:r>
          </a:p>
          <a:p>
            <a:r>
              <a:rPr lang="en-US" dirty="0">
                <a:latin typeface="Times New Roman" panose="02020603050405020304" pitchFamily="18" charset="0"/>
                <a:cs typeface="Times New Roman" panose="02020603050405020304" pitchFamily="18" charset="0"/>
              </a:rPr>
              <a:t>Examine housing price trends using visualization techniques.</a:t>
            </a:r>
          </a:p>
        </p:txBody>
      </p:sp>
    </p:spTree>
    <p:extLst>
      <p:ext uri="{BB962C8B-B14F-4D97-AF65-F5344CB8AC3E}">
        <p14:creationId xmlns:p14="http://schemas.microsoft.com/office/powerpoint/2010/main" val="2330155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4DC8-58A0-64FE-254D-082993A4908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D7172D6B-6C0D-50A7-9725-7327990414F9}"/>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Housing markets have attracted extensive academic interest because of their importance to economic growth, wealth creation, and social welfare. </a:t>
            </a:r>
          </a:p>
          <a:p>
            <a:r>
              <a:rPr lang="en-US" dirty="0">
                <a:latin typeface="Times New Roman" panose="02020603050405020304" pitchFamily="18" charset="0"/>
                <a:cs typeface="Times New Roman" panose="02020603050405020304" pitchFamily="18" charset="0"/>
              </a:rPr>
              <a:t>According to Tukey, EDA allows analysts to "listen to the data" before drawing conclusions.</a:t>
            </a:r>
          </a:p>
          <a:p>
            <a:r>
              <a:rPr lang="en-US" dirty="0">
                <a:latin typeface="Times New Roman" panose="02020603050405020304" pitchFamily="18" charset="0"/>
                <a:cs typeface="Times New Roman" panose="02020603050405020304" pitchFamily="18" charset="0"/>
              </a:rPr>
              <a:t>Research by Rosen (1974) introduced the Hedonic Pricing Model, explaining that house prices are determined by bundles of characteristics rather than individual features.</a:t>
            </a:r>
          </a:p>
          <a:p>
            <a:r>
              <a:rPr lang="en-US" dirty="0">
                <a:latin typeface="Times New Roman" panose="02020603050405020304" pitchFamily="18" charset="0"/>
                <a:cs typeface="Times New Roman" panose="02020603050405020304" pitchFamily="18" charset="0"/>
              </a:rPr>
              <a:t>Relatively fewer studies focus exclusively on comprehensive exploratory analysis.</a:t>
            </a:r>
          </a:p>
        </p:txBody>
      </p:sp>
    </p:spTree>
    <p:extLst>
      <p:ext uri="{BB962C8B-B14F-4D97-AF65-F5344CB8AC3E}">
        <p14:creationId xmlns:p14="http://schemas.microsoft.com/office/powerpoint/2010/main" val="3013477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1F9D-4BE7-3EEB-AF60-70E0A6FA284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07313A65-F4C8-A61A-602E-43997A5BC6A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Danish Housing Dataset </a:t>
            </a:r>
          </a:p>
          <a:p>
            <a:r>
              <a:rPr lang="en-US" dirty="0">
                <a:latin typeface="Times New Roman" panose="02020603050405020304" pitchFamily="18" charset="0"/>
                <a:cs typeface="Times New Roman" panose="02020603050405020304" pitchFamily="18" charset="0"/>
              </a:rPr>
              <a:t>Multiple regions </a:t>
            </a:r>
          </a:p>
          <a:p>
            <a:r>
              <a:rPr lang="en-US" dirty="0">
                <a:latin typeface="Times New Roman" panose="02020603050405020304" pitchFamily="18" charset="0"/>
                <a:cs typeface="Times New Roman" panose="02020603050405020304" pitchFamily="18" charset="0"/>
              </a:rPr>
              <a:t>Various property types </a:t>
            </a:r>
          </a:p>
          <a:p>
            <a:r>
              <a:rPr lang="en-US" dirty="0">
                <a:latin typeface="Times New Roman" panose="02020603050405020304" pitchFamily="18" charset="0"/>
                <a:cs typeface="Times New Roman" panose="02020603050405020304" pitchFamily="18" charset="0"/>
              </a:rPr>
              <a:t>Purchase prices </a:t>
            </a:r>
          </a:p>
          <a:p>
            <a:r>
              <a:rPr lang="en-US" dirty="0">
                <a:latin typeface="Times New Roman" panose="02020603050405020304" pitchFamily="18" charset="0"/>
                <a:cs typeface="Times New Roman" panose="02020603050405020304" pitchFamily="18" charset="0"/>
              </a:rPr>
              <a:t>Offer prices Size (sqm) </a:t>
            </a:r>
          </a:p>
          <a:p>
            <a:r>
              <a:rPr lang="en-US" dirty="0">
                <a:latin typeface="Times New Roman" panose="02020603050405020304" pitchFamily="18" charset="0"/>
                <a:cs typeface="Times New Roman" panose="02020603050405020304" pitchFamily="18" charset="0"/>
              </a:rPr>
              <a:t>Construction year</a:t>
            </a:r>
          </a:p>
        </p:txBody>
      </p:sp>
    </p:spTree>
    <p:extLst>
      <p:ext uri="{BB962C8B-B14F-4D97-AF65-F5344CB8AC3E}">
        <p14:creationId xmlns:p14="http://schemas.microsoft.com/office/powerpoint/2010/main" val="303695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3A5F1-E263-CD97-29A2-94365AC3CC5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a:t>
            </a:r>
          </a:p>
        </p:txBody>
      </p:sp>
      <p:pic>
        <p:nvPicPr>
          <p:cNvPr id="5" name="Content Placeholder 4">
            <a:extLst>
              <a:ext uri="{FF2B5EF4-FFF2-40B4-BE49-F238E27FC236}">
                <a16:creationId xmlns:a16="http://schemas.microsoft.com/office/drawing/2014/main" id="{71FCE656-2D79-2ECE-D162-E1CA1B914E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2751" y="2557463"/>
            <a:ext cx="9326498" cy="3317875"/>
          </a:xfrm>
          <a:prstGeom prst="rect">
            <a:avLst/>
          </a:prstGeom>
        </p:spPr>
      </p:pic>
    </p:spTree>
    <p:extLst>
      <p:ext uri="{BB962C8B-B14F-4D97-AF65-F5344CB8AC3E}">
        <p14:creationId xmlns:p14="http://schemas.microsoft.com/office/powerpoint/2010/main" val="1503541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0367-10E7-E58E-18AC-3BFAE43797FA}"/>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Tools Used</a:t>
            </a:r>
          </a:p>
        </p:txBody>
      </p:sp>
      <p:sp>
        <p:nvSpPr>
          <p:cNvPr id="3" name="Content Placeholder 2">
            <a:extLst>
              <a:ext uri="{FF2B5EF4-FFF2-40B4-BE49-F238E27FC236}">
                <a16:creationId xmlns:a16="http://schemas.microsoft.com/office/drawing/2014/main" id="{405947B7-28ED-0D57-907A-F1146D8C6660}"/>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Python </a:t>
            </a:r>
          </a:p>
          <a:p>
            <a:r>
              <a:rPr lang="en-US" dirty="0">
                <a:latin typeface="Times New Roman" panose="02020603050405020304" pitchFamily="18" charset="0"/>
                <a:cs typeface="Times New Roman" panose="02020603050405020304" pitchFamily="18" charset="0"/>
              </a:rPr>
              <a:t>Pandas </a:t>
            </a:r>
          </a:p>
          <a:p>
            <a:r>
              <a:rPr lang="en-US" dirty="0">
                <a:latin typeface="Times New Roman" panose="02020603050405020304" pitchFamily="18" charset="0"/>
                <a:cs typeface="Times New Roman" panose="02020603050405020304" pitchFamily="18" charset="0"/>
              </a:rPr>
              <a:t>NumPy </a:t>
            </a:r>
          </a:p>
          <a:p>
            <a:r>
              <a:rPr lang="en-US" dirty="0">
                <a:latin typeface="Times New Roman" panose="02020603050405020304" pitchFamily="18" charset="0"/>
                <a:cs typeface="Times New Roman" panose="02020603050405020304" pitchFamily="18" charset="0"/>
              </a:rPr>
              <a:t>Matplotlib </a:t>
            </a:r>
          </a:p>
          <a:p>
            <a:r>
              <a:rPr lang="en-US" dirty="0">
                <a:latin typeface="Times New Roman" panose="02020603050405020304" pitchFamily="18" charset="0"/>
                <a:cs typeface="Times New Roman" panose="02020603050405020304" pitchFamily="18" charset="0"/>
              </a:rPr>
              <a:t>Seaborn </a:t>
            </a:r>
          </a:p>
          <a:p>
            <a:r>
              <a:rPr lang="en-US" dirty="0">
                <a:latin typeface="Times New Roman" panose="02020603050405020304" pitchFamily="18" charset="0"/>
                <a:cs typeface="Times New Roman" panose="02020603050405020304" pitchFamily="18" charset="0"/>
              </a:rPr>
              <a:t>Jupyter Notebook</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516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2C1EB-940C-65EF-5E77-23FE615D3310}"/>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09954CD0-D925-5001-056C-B9F60FFD3677}"/>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Data Collection</a:t>
            </a:r>
          </a:p>
          <a:p>
            <a:r>
              <a:rPr lang="en-US" dirty="0">
                <a:latin typeface="Times New Roman" panose="02020603050405020304" pitchFamily="18" charset="0"/>
                <a:cs typeface="Times New Roman" panose="02020603050405020304" pitchFamily="18" charset="0"/>
              </a:rPr>
              <a:t>Data Cleaning</a:t>
            </a:r>
          </a:p>
          <a:p>
            <a:r>
              <a:rPr lang="en-US" dirty="0">
                <a:latin typeface="Times New Roman" panose="02020603050405020304" pitchFamily="18" charset="0"/>
                <a:cs typeface="Times New Roman" panose="02020603050405020304" pitchFamily="18" charset="0"/>
              </a:rPr>
              <a:t>Feature Engineering</a:t>
            </a:r>
          </a:p>
          <a:p>
            <a:r>
              <a:rPr lang="en-US" dirty="0">
                <a:latin typeface="Times New Roman" panose="02020603050405020304" pitchFamily="18" charset="0"/>
                <a:cs typeface="Times New Roman" panose="02020603050405020304" pitchFamily="18" charset="0"/>
              </a:rPr>
              <a:t>Exploratory Data Analysis</a:t>
            </a:r>
          </a:p>
          <a:p>
            <a:r>
              <a:rPr lang="en-US" dirty="0">
                <a:latin typeface="Times New Roman" panose="02020603050405020304" pitchFamily="18" charset="0"/>
                <a:cs typeface="Times New Roman" panose="02020603050405020304" pitchFamily="18" charset="0"/>
              </a:rPr>
              <a:t>Visualization</a:t>
            </a:r>
          </a:p>
          <a:p>
            <a:r>
              <a:rPr lang="en-US" dirty="0">
                <a:latin typeface="Times New Roman" panose="02020603050405020304" pitchFamily="18" charset="0"/>
                <a:cs typeface="Times New Roman" panose="02020603050405020304" pitchFamily="18" charset="0"/>
              </a:rPr>
              <a:t>Interpretation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523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265B-0562-CE4B-B19B-8479CD0B2F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the structure of the dataset?</a:t>
            </a:r>
          </a:p>
        </p:txBody>
      </p:sp>
      <p:sp>
        <p:nvSpPr>
          <p:cNvPr id="3" name="Content Placeholder 2">
            <a:extLst>
              <a:ext uri="{FF2B5EF4-FFF2-40B4-BE49-F238E27FC236}">
                <a16:creationId xmlns:a16="http://schemas.microsoft.com/office/drawing/2014/main" id="{366C7335-57DB-58C6-E45F-515A77A6C4C5}"/>
              </a:ext>
            </a:extLst>
          </p:cNvPr>
          <p:cNvSpPr>
            <a:spLocks noGrp="1"/>
          </p:cNvSpPr>
          <p:nvPr>
            <p:ph idx="1"/>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Analysis</a:t>
            </a:r>
          </a:p>
          <a:p>
            <a:r>
              <a:rPr lang="en-US" dirty="0">
                <a:latin typeface="Times New Roman" panose="02020603050405020304" pitchFamily="18" charset="0"/>
                <a:cs typeface="Times New Roman" panose="02020603050405020304" pitchFamily="18" charset="0"/>
              </a:rPr>
              <a:t>The dataset structure was examined using .shape, .info(), and .</a:t>
            </a:r>
            <a:r>
              <a:rPr lang="en-US" dirty="0" err="1">
                <a:latin typeface="Times New Roman" panose="02020603050405020304" pitchFamily="18" charset="0"/>
                <a:cs typeface="Times New Roman" panose="02020603050405020304" pitchFamily="18" charset="0"/>
              </a:rPr>
              <a:t>isnull</a:t>
            </a:r>
            <a:r>
              <a:rPr lang="en-US" dirty="0">
                <a:latin typeface="Times New Roman" panose="02020603050405020304" pitchFamily="18" charset="0"/>
                <a:cs typeface="Times New Roman" panose="02020603050405020304" pitchFamily="18" charset="0"/>
              </a:rPr>
              <a:t>().sum() to determine the number of rows, columns, data types, and missing values.</a:t>
            </a:r>
          </a:p>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Dataset contains both numerical and categorical variables. </a:t>
            </a:r>
          </a:p>
          <a:p>
            <a:r>
              <a:rPr lang="en-US" dirty="0">
                <a:latin typeface="Times New Roman" panose="02020603050405020304" pitchFamily="18" charset="0"/>
                <a:cs typeface="Times New Roman" panose="02020603050405020304" pitchFamily="18" charset="0"/>
              </a:rPr>
              <a:t>Numerical variables include purchase price, offer price, and property size. </a:t>
            </a:r>
          </a:p>
          <a:p>
            <a:r>
              <a:rPr lang="en-US" dirty="0">
                <a:latin typeface="Times New Roman" panose="02020603050405020304" pitchFamily="18" charset="0"/>
                <a:cs typeface="Times New Roman" panose="02020603050405020304" pitchFamily="18" charset="0"/>
              </a:rPr>
              <a:t>Categorical variables include region and property type. </a:t>
            </a:r>
          </a:p>
          <a:p>
            <a:r>
              <a:rPr lang="en-US" dirty="0">
                <a:latin typeface="Times New Roman" panose="02020603050405020304" pitchFamily="18" charset="0"/>
                <a:cs typeface="Times New Roman" panose="02020603050405020304" pitchFamily="18" charset="0"/>
              </a:rPr>
              <a:t>Missing values were identified before analysis.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The dataset was well structured and suitable for exploratory analysis after identifying missing values.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3193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EEF93C21-C2B8-D98D-9D39-D381C6F95E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2489" y="927703"/>
            <a:ext cx="8991598" cy="5015367"/>
          </a:xfrm>
          <a:prstGeom prst="rect">
            <a:avLst/>
          </a:prstGeom>
        </p:spPr>
      </p:pic>
    </p:spTree>
    <p:extLst>
      <p:ext uri="{BB962C8B-B14F-4D97-AF65-F5344CB8AC3E}">
        <p14:creationId xmlns:p14="http://schemas.microsoft.com/office/powerpoint/2010/main" val="3664679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3E31A3-C072-BA05-9B58-EAB573E9F2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7171" y="642257"/>
            <a:ext cx="9579429" cy="5233081"/>
          </a:xfrm>
          <a:prstGeom prst="rect">
            <a:avLst/>
          </a:prstGeom>
        </p:spPr>
      </p:pic>
    </p:spTree>
    <p:extLst>
      <p:ext uri="{BB962C8B-B14F-4D97-AF65-F5344CB8AC3E}">
        <p14:creationId xmlns:p14="http://schemas.microsoft.com/office/powerpoint/2010/main" val="3857518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92C4-DABD-B34B-64B3-E04BC7E3EE2F}"/>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How were missing values handled and data types converted?</a:t>
            </a:r>
          </a:p>
        </p:txBody>
      </p:sp>
      <p:sp>
        <p:nvSpPr>
          <p:cNvPr id="3" name="Content Placeholder 2">
            <a:extLst>
              <a:ext uri="{FF2B5EF4-FFF2-40B4-BE49-F238E27FC236}">
                <a16:creationId xmlns:a16="http://schemas.microsoft.com/office/drawing/2014/main" id="{BA19B19F-9608-C281-FC40-CD52E727C401}"/>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Analysis</a:t>
            </a:r>
          </a:p>
          <a:p>
            <a:r>
              <a:rPr lang="en-US" dirty="0">
                <a:latin typeface="Times New Roman" panose="02020603050405020304" pitchFamily="18" charset="0"/>
                <a:cs typeface="Times New Roman" panose="02020603050405020304" pitchFamily="18" charset="0"/>
              </a:rPr>
              <a:t>Numerical missing values were replaced using median values. </a:t>
            </a:r>
          </a:p>
          <a:p>
            <a:r>
              <a:rPr lang="en-US" dirty="0">
                <a:latin typeface="Times New Roman" panose="02020603050405020304" pitchFamily="18" charset="0"/>
                <a:cs typeface="Times New Roman" panose="02020603050405020304" pitchFamily="18" charset="0"/>
              </a:rPr>
              <a:t>Categorical missing values were filled using the mode. </a:t>
            </a:r>
          </a:p>
          <a:p>
            <a:r>
              <a:rPr lang="en-US" dirty="0">
                <a:latin typeface="Times New Roman" panose="02020603050405020304" pitchFamily="18" charset="0"/>
                <a:cs typeface="Times New Roman" panose="02020603050405020304" pitchFamily="18" charset="0"/>
              </a:rPr>
              <a:t>Date columns were converted into appropriate datetime format.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The cleaned dataset became suitable for reliable statistical analysis.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6047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5A93F2-CBDF-C21D-2541-90A546131C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0856" y="1068328"/>
            <a:ext cx="10278441" cy="4494272"/>
          </a:xfrm>
          <a:prstGeom prst="rect">
            <a:avLst/>
          </a:prstGeom>
        </p:spPr>
      </p:pic>
    </p:spTree>
    <p:extLst>
      <p:ext uri="{BB962C8B-B14F-4D97-AF65-F5344CB8AC3E}">
        <p14:creationId xmlns:p14="http://schemas.microsoft.com/office/powerpoint/2010/main" val="1097781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82EB-7907-4F59-53E3-E76F087362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Which outliers exist?</a:t>
            </a:r>
          </a:p>
        </p:txBody>
      </p:sp>
      <p:sp>
        <p:nvSpPr>
          <p:cNvPr id="3" name="Content Placeholder 2">
            <a:extLst>
              <a:ext uri="{FF2B5EF4-FFF2-40B4-BE49-F238E27FC236}">
                <a16:creationId xmlns:a16="http://schemas.microsoft.com/office/drawing/2014/main" id="{6E0136FC-94ED-B5D8-B93F-69DA4188817B}"/>
              </a:ext>
            </a:extLst>
          </p:cNvPr>
          <p:cNvSpPr>
            <a:spLocks noGrp="1"/>
          </p:cNvSpPr>
          <p:nvPr>
            <p:ph idx="1"/>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Analysis</a:t>
            </a:r>
          </a:p>
          <a:p>
            <a:r>
              <a:rPr lang="en-US" dirty="0">
                <a:latin typeface="Times New Roman" panose="02020603050405020304" pitchFamily="18" charset="0"/>
                <a:cs typeface="Times New Roman" panose="02020603050405020304" pitchFamily="18" charset="0"/>
              </a:rPr>
              <a:t>The IQR method was applied to:</a:t>
            </a:r>
          </a:p>
          <a:p>
            <a:r>
              <a:rPr lang="en-US" dirty="0">
                <a:latin typeface="Times New Roman" panose="02020603050405020304" pitchFamily="18" charset="0"/>
                <a:cs typeface="Times New Roman" panose="02020603050405020304" pitchFamily="18" charset="0"/>
              </a:rPr>
              <a:t>Purchase Price </a:t>
            </a:r>
          </a:p>
          <a:p>
            <a:r>
              <a:rPr lang="en-US" dirty="0">
                <a:latin typeface="Times New Roman" panose="02020603050405020304" pitchFamily="18" charset="0"/>
                <a:cs typeface="Times New Roman" panose="02020603050405020304" pitchFamily="18" charset="0"/>
              </a:rPr>
              <a:t>Property Size </a:t>
            </a:r>
          </a:p>
          <a:p>
            <a:r>
              <a:rPr lang="en-US" dirty="0">
                <a:latin typeface="Times New Roman" panose="02020603050405020304" pitchFamily="18" charset="0"/>
                <a:cs typeface="Times New Roman" panose="02020603050405020304" pitchFamily="18" charset="0"/>
              </a:rPr>
              <a:t>Price per Square Meter </a:t>
            </a:r>
          </a:p>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Several extreme values were detected, especially among luxury homes.</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Outliers mainly represented expensive properties rather than data errors.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2904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65F633-5FCC-84D4-ABB5-7F47CD1CC7B2}"/>
              </a:ext>
            </a:extLst>
          </p:cNvPr>
          <p:cNvPicPr>
            <a:picLocks noGrp="1" noChangeAspect="1"/>
          </p:cNvPicPr>
          <p:nvPr>
            <p:ph idx="1"/>
          </p:nvPr>
        </p:nvPicPr>
        <p:blipFill>
          <a:blip r:embed="rId2"/>
          <a:stretch>
            <a:fillRect/>
          </a:stretch>
        </p:blipFill>
        <p:spPr>
          <a:xfrm>
            <a:off x="2982685" y="828761"/>
            <a:ext cx="6226629" cy="5360393"/>
          </a:xfrm>
          <a:prstGeom prst="rect">
            <a:avLst/>
          </a:prstGeom>
        </p:spPr>
      </p:pic>
    </p:spTree>
    <p:extLst>
      <p:ext uri="{BB962C8B-B14F-4D97-AF65-F5344CB8AC3E}">
        <p14:creationId xmlns:p14="http://schemas.microsoft.com/office/powerpoint/2010/main" val="1846131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0A81-BE20-5761-153C-2F75C23F3C5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were outliers handled?</a:t>
            </a:r>
          </a:p>
        </p:txBody>
      </p:sp>
      <p:sp>
        <p:nvSpPr>
          <p:cNvPr id="3" name="Content Placeholder 2">
            <a:extLst>
              <a:ext uri="{FF2B5EF4-FFF2-40B4-BE49-F238E27FC236}">
                <a16:creationId xmlns:a16="http://schemas.microsoft.com/office/drawing/2014/main" id="{9CC045DC-08B1-6078-C35A-1BCE283F7208}"/>
              </a:ext>
            </a:extLst>
          </p:cNvPr>
          <p:cNvSpPr>
            <a:spLocks noGrp="1"/>
          </p:cNvSpPr>
          <p:nvPr>
            <p:ph idx="1"/>
          </p:nvPr>
        </p:nvSpPr>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Analysis</a:t>
            </a:r>
          </a:p>
          <a:p>
            <a:r>
              <a:rPr lang="en-US" dirty="0">
                <a:latin typeface="Times New Roman" panose="02020603050405020304" pitchFamily="18" charset="0"/>
                <a:cs typeface="Times New Roman" panose="02020603050405020304" pitchFamily="18" charset="0"/>
              </a:rPr>
              <a:t>Outliers were investigated before deciding whether to remove or retain them.</a:t>
            </a:r>
          </a:p>
          <a:p>
            <a:r>
              <a:rPr lang="en-US" b="1" dirty="0">
                <a:latin typeface="Times New Roman" panose="02020603050405020304" pitchFamily="18" charset="0"/>
                <a:cs typeface="Times New Roman" panose="02020603050405020304" pitchFamily="18" charset="0"/>
              </a:rPr>
              <a:t>Findings (Capping was Used)</a:t>
            </a:r>
          </a:p>
          <a:p>
            <a:r>
              <a:rPr lang="en-US" dirty="0">
                <a:latin typeface="Times New Roman" panose="02020603050405020304" pitchFamily="18" charset="0"/>
                <a:cs typeface="Times New Roman" panose="02020603050405020304" pitchFamily="18" charset="0"/>
              </a:rPr>
              <a:t>Genuine luxury properties were retained. </a:t>
            </a:r>
          </a:p>
          <a:p>
            <a:r>
              <a:rPr lang="en-US" dirty="0">
                <a:latin typeface="Times New Roman" panose="02020603050405020304" pitchFamily="18" charset="0"/>
                <a:cs typeface="Times New Roman" panose="02020603050405020304" pitchFamily="18" charset="0"/>
              </a:rPr>
              <a:t>Obvious errors would be removed. </a:t>
            </a:r>
          </a:p>
          <a:p>
            <a:r>
              <a:rPr lang="en-US" dirty="0">
                <a:latin typeface="Times New Roman" panose="02020603050405020304" pitchFamily="18" charset="0"/>
                <a:cs typeface="Times New Roman" panose="02020603050405020304" pitchFamily="18" charset="0"/>
              </a:rPr>
              <a:t>Extreme observations were considered part of the housing market.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Retaining valid outliers preserved important market information. Hence, capping is used.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578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C98411-CEF5-7E3A-BFA1-EE3A8C82AF52}"/>
              </a:ext>
            </a:extLst>
          </p:cNvPr>
          <p:cNvPicPr>
            <a:picLocks noGrp="1" noChangeAspect="1"/>
          </p:cNvPicPr>
          <p:nvPr>
            <p:ph idx="1"/>
          </p:nvPr>
        </p:nvPicPr>
        <p:blipFill>
          <a:blip r:embed="rId2"/>
          <a:stretch>
            <a:fillRect/>
          </a:stretch>
        </p:blipFill>
        <p:spPr>
          <a:xfrm>
            <a:off x="3200401" y="906420"/>
            <a:ext cx="5617028" cy="5045160"/>
          </a:xfrm>
          <a:prstGeom prst="rect">
            <a:avLst/>
          </a:prstGeom>
        </p:spPr>
      </p:pic>
    </p:spTree>
    <p:extLst>
      <p:ext uri="{BB962C8B-B14F-4D97-AF65-F5344CB8AC3E}">
        <p14:creationId xmlns:p14="http://schemas.microsoft.com/office/powerpoint/2010/main" val="719188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4F5F-2CC6-32BE-6AE8-8EE20153F0BE}"/>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Average and Median Housing Prices by Region</a:t>
            </a:r>
          </a:p>
        </p:txBody>
      </p:sp>
      <p:pic>
        <p:nvPicPr>
          <p:cNvPr id="5" name="Content Placeholder 4">
            <a:extLst>
              <a:ext uri="{FF2B5EF4-FFF2-40B4-BE49-F238E27FC236}">
                <a16:creationId xmlns:a16="http://schemas.microsoft.com/office/drawing/2014/main" id="{777EFCC2-35CC-43BF-804B-0FCD1F26728A}"/>
              </a:ext>
            </a:extLst>
          </p:cNvPr>
          <p:cNvPicPr>
            <a:picLocks noGrp="1" noChangeAspect="1"/>
          </p:cNvPicPr>
          <p:nvPr>
            <p:ph idx="1"/>
          </p:nvPr>
        </p:nvPicPr>
        <p:blipFill>
          <a:blip r:embed="rId2"/>
          <a:stretch>
            <a:fillRect/>
          </a:stretch>
        </p:blipFill>
        <p:spPr>
          <a:xfrm>
            <a:off x="1346631" y="2362200"/>
            <a:ext cx="10223115" cy="3217957"/>
          </a:xfrm>
          <a:prstGeom prst="rect">
            <a:avLst/>
          </a:prstGeom>
        </p:spPr>
      </p:pic>
    </p:spTree>
    <p:extLst>
      <p:ext uri="{BB962C8B-B14F-4D97-AF65-F5344CB8AC3E}">
        <p14:creationId xmlns:p14="http://schemas.microsoft.com/office/powerpoint/2010/main" val="2248894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34D79-7605-B69D-EC97-1AA297A15B06}"/>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Average and Median Housing Prices by Region</a:t>
            </a:r>
            <a:endParaRPr lang="en-US" dirty="0"/>
          </a:p>
        </p:txBody>
      </p:sp>
      <p:sp>
        <p:nvSpPr>
          <p:cNvPr id="3" name="Content Placeholder 2">
            <a:extLst>
              <a:ext uri="{FF2B5EF4-FFF2-40B4-BE49-F238E27FC236}">
                <a16:creationId xmlns:a16="http://schemas.microsoft.com/office/drawing/2014/main" id="{73B177F1-6D07-3C93-D664-C5EBE348B228}"/>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Housing prices differ significantly across regions. </a:t>
            </a:r>
          </a:p>
          <a:p>
            <a:r>
              <a:rPr lang="en-US" dirty="0">
                <a:latin typeface="Times New Roman" panose="02020603050405020304" pitchFamily="18" charset="0"/>
                <a:cs typeface="Times New Roman" panose="02020603050405020304" pitchFamily="18" charset="0"/>
              </a:rPr>
              <a:t>Zealand has the highest average prices and hence, the most expensive. </a:t>
            </a:r>
          </a:p>
          <a:p>
            <a:r>
              <a:rPr lang="en-US" dirty="0">
                <a:latin typeface="Times New Roman" panose="02020603050405020304" pitchFamily="18" charset="0"/>
                <a:cs typeface="Times New Roman" panose="02020603050405020304" pitchFamily="18" charset="0"/>
              </a:rPr>
              <a:t>Bornholm is the most affordable.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Region is one of the strongest determinants of housing prices.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255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15A4B-33B0-C560-83E4-FA3114E8319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Sales Activity Across Regions</a:t>
            </a:r>
          </a:p>
        </p:txBody>
      </p:sp>
      <p:pic>
        <p:nvPicPr>
          <p:cNvPr id="5" name="Content Placeholder 4">
            <a:extLst>
              <a:ext uri="{FF2B5EF4-FFF2-40B4-BE49-F238E27FC236}">
                <a16:creationId xmlns:a16="http://schemas.microsoft.com/office/drawing/2014/main" id="{FCADBF65-2B8F-7B51-8893-C51B87DF9DF6}"/>
              </a:ext>
            </a:extLst>
          </p:cNvPr>
          <p:cNvPicPr>
            <a:picLocks noGrp="1" noChangeAspect="1"/>
          </p:cNvPicPr>
          <p:nvPr>
            <p:ph idx="1"/>
          </p:nvPr>
        </p:nvPicPr>
        <p:blipFill>
          <a:blip r:embed="rId2"/>
          <a:stretch>
            <a:fillRect/>
          </a:stretch>
        </p:blipFill>
        <p:spPr>
          <a:xfrm>
            <a:off x="2253343" y="2557463"/>
            <a:ext cx="7990114" cy="3317875"/>
          </a:xfrm>
          <a:prstGeom prst="rect">
            <a:avLst/>
          </a:prstGeom>
        </p:spPr>
      </p:pic>
    </p:spTree>
    <p:extLst>
      <p:ext uri="{BB962C8B-B14F-4D97-AF65-F5344CB8AC3E}">
        <p14:creationId xmlns:p14="http://schemas.microsoft.com/office/powerpoint/2010/main" val="4277042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197D9-5CD0-7287-67DB-50CF776DCF8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Sales Activity Across Regions</a:t>
            </a:r>
            <a:endParaRPr lang="en-US" dirty="0"/>
          </a:p>
        </p:txBody>
      </p:sp>
      <p:sp>
        <p:nvSpPr>
          <p:cNvPr id="3" name="Content Placeholder 2">
            <a:extLst>
              <a:ext uri="{FF2B5EF4-FFF2-40B4-BE49-F238E27FC236}">
                <a16:creationId xmlns:a16="http://schemas.microsoft.com/office/drawing/2014/main" id="{8B50254A-1113-3235-0C62-68A73E1368E1}"/>
              </a:ext>
            </a:extLst>
          </p:cNvPr>
          <p:cNvSpPr>
            <a:spLocks noGrp="1"/>
          </p:cNvSpPr>
          <p:nvPr>
            <p:ph idx="1"/>
          </p:nvPr>
        </p:nvSpPr>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Sales volume varies across regions. </a:t>
            </a:r>
          </a:p>
          <a:p>
            <a:r>
              <a:rPr lang="en-US" dirty="0">
                <a:latin typeface="Times New Roman" panose="02020603050405020304" pitchFamily="18" charset="0"/>
                <a:cs typeface="Times New Roman" panose="02020603050405020304" pitchFamily="18" charset="0"/>
              </a:rPr>
              <a:t>High sales indicate active housing markets. </a:t>
            </a:r>
          </a:p>
          <a:p>
            <a:r>
              <a:rPr lang="en-US" dirty="0">
                <a:latin typeface="Times New Roman" panose="02020603050405020304" pitchFamily="18" charset="0"/>
                <a:cs typeface="Times New Roman" panose="02020603050405020304" pitchFamily="18" charset="0"/>
              </a:rPr>
              <a:t>Low sales may indicate lower demand. </a:t>
            </a:r>
          </a:p>
          <a:p>
            <a:r>
              <a:rPr lang="en-US" dirty="0">
                <a:latin typeface="Times New Roman" panose="02020603050405020304" pitchFamily="18" charset="0"/>
                <a:cs typeface="Times New Roman" panose="02020603050405020304" pitchFamily="18" charset="0"/>
              </a:rPr>
              <a:t>Jutland shows high market activity.</a:t>
            </a:r>
          </a:p>
          <a:p>
            <a:r>
              <a:rPr lang="en-US" dirty="0">
                <a:latin typeface="Times New Roman" panose="02020603050405020304" pitchFamily="18" charset="0"/>
                <a:cs typeface="Times New Roman" panose="02020603050405020304" pitchFamily="18" charset="0"/>
              </a:rPr>
              <a:t>Bornholm shows high market activity.</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Housing market activity differs considerably between Danish regions.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891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560C-EB87-6AF7-296C-3B528A418C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Type Comparison</a:t>
            </a:r>
          </a:p>
        </p:txBody>
      </p:sp>
      <p:pic>
        <p:nvPicPr>
          <p:cNvPr id="5" name="Content Placeholder 4">
            <a:extLst>
              <a:ext uri="{FF2B5EF4-FFF2-40B4-BE49-F238E27FC236}">
                <a16:creationId xmlns:a16="http://schemas.microsoft.com/office/drawing/2014/main" id="{8555F3D9-F4D1-EE2D-CAE8-0D98F1892EC7}"/>
              </a:ext>
            </a:extLst>
          </p:cNvPr>
          <p:cNvPicPr>
            <a:picLocks noGrp="1" noChangeAspect="1"/>
          </p:cNvPicPr>
          <p:nvPr>
            <p:ph idx="1"/>
          </p:nvPr>
        </p:nvPicPr>
        <p:blipFill>
          <a:blip r:embed="rId2"/>
          <a:stretch>
            <a:fillRect/>
          </a:stretch>
        </p:blipFill>
        <p:spPr>
          <a:xfrm>
            <a:off x="1556657" y="2557463"/>
            <a:ext cx="9122229" cy="3317875"/>
          </a:xfrm>
          <a:prstGeom prst="rect">
            <a:avLst/>
          </a:prstGeom>
        </p:spPr>
      </p:pic>
    </p:spTree>
    <p:extLst>
      <p:ext uri="{BB962C8B-B14F-4D97-AF65-F5344CB8AC3E}">
        <p14:creationId xmlns:p14="http://schemas.microsoft.com/office/powerpoint/2010/main" val="4024568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4B4C-2DC2-024E-BBCE-4922535B0AD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Type Comparison</a:t>
            </a:r>
            <a:endParaRPr lang="en-US" dirty="0"/>
          </a:p>
        </p:txBody>
      </p:sp>
      <p:sp>
        <p:nvSpPr>
          <p:cNvPr id="3" name="Content Placeholder 2">
            <a:extLst>
              <a:ext uri="{FF2B5EF4-FFF2-40B4-BE49-F238E27FC236}">
                <a16:creationId xmlns:a16="http://schemas.microsoft.com/office/drawing/2014/main" id="{9CBB1E53-9C3D-8ED4-BD13-7A0D747D8F61}"/>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Apartments command higher prices. </a:t>
            </a:r>
          </a:p>
          <a:p>
            <a:r>
              <a:rPr lang="en-US" dirty="0">
                <a:latin typeface="Times New Roman" panose="02020603050405020304" pitchFamily="18" charset="0"/>
                <a:cs typeface="Times New Roman" panose="02020603050405020304" pitchFamily="18" charset="0"/>
              </a:rPr>
              <a:t>Villas are relatively cheaper. </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Property type significantly influences housing prices.</a:t>
            </a: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6106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A61C3B-83C0-2FD2-2FCC-0D02CCCCAE4F}"/>
              </a:ext>
            </a:extLst>
          </p:cNvPr>
          <p:cNvPicPr>
            <a:picLocks noGrp="1" noChangeAspect="1"/>
          </p:cNvPicPr>
          <p:nvPr>
            <p:ph idx="1"/>
          </p:nvPr>
        </p:nvPicPr>
        <p:blipFill>
          <a:blip r:embed="rId2"/>
          <a:stretch>
            <a:fillRect/>
          </a:stretch>
        </p:blipFill>
        <p:spPr>
          <a:xfrm>
            <a:off x="1175658" y="589920"/>
            <a:ext cx="9840684" cy="5678160"/>
          </a:xfrm>
          <a:prstGeom prst="rect">
            <a:avLst/>
          </a:prstGeom>
        </p:spPr>
      </p:pic>
    </p:spTree>
    <p:extLst>
      <p:ext uri="{BB962C8B-B14F-4D97-AF65-F5344CB8AC3E}">
        <p14:creationId xmlns:p14="http://schemas.microsoft.com/office/powerpoint/2010/main" val="320633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DFDF-3DAD-1C9C-AF72-8E55BF53AD78}"/>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Property Type Comparison Across Regions</a:t>
            </a:r>
            <a:endParaRPr lang="en-US" dirty="0"/>
          </a:p>
        </p:txBody>
      </p:sp>
      <p:sp>
        <p:nvSpPr>
          <p:cNvPr id="3" name="Content Placeholder 2">
            <a:extLst>
              <a:ext uri="{FF2B5EF4-FFF2-40B4-BE49-F238E27FC236}">
                <a16:creationId xmlns:a16="http://schemas.microsoft.com/office/drawing/2014/main" id="{B22AE035-5CC1-A44B-610D-B49331E2E9A0}"/>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Apartments generally command higher prices. </a:t>
            </a:r>
          </a:p>
          <a:p>
            <a:r>
              <a:rPr lang="en-US" dirty="0">
                <a:latin typeface="Times New Roman" panose="02020603050405020304" pitchFamily="18" charset="0"/>
                <a:cs typeface="Times New Roman" panose="02020603050405020304" pitchFamily="18" charset="0"/>
              </a:rPr>
              <a:t>Villas are relatively cheaper. </a:t>
            </a:r>
          </a:p>
          <a:p>
            <a:r>
              <a:rPr lang="en-US" dirty="0">
                <a:latin typeface="Times New Roman" panose="02020603050405020304" pitchFamily="18" charset="0"/>
                <a:cs typeface="Times New Roman" panose="02020603050405020304" pitchFamily="18" charset="0"/>
              </a:rPr>
              <a:t>Farms, townhouses and summerhouses show distinct pricing patterns.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Property type significantly influences housing prices.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791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9230C-145D-3D34-47DE-AB9CDC170BE6}"/>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Capital Copenhagen vs Rest of Zealand and East and Mid of Jutland</a:t>
            </a:r>
          </a:p>
        </p:txBody>
      </p:sp>
      <p:pic>
        <p:nvPicPr>
          <p:cNvPr id="5" name="Content Placeholder 4">
            <a:extLst>
              <a:ext uri="{FF2B5EF4-FFF2-40B4-BE49-F238E27FC236}">
                <a16:creationId xmlns:a16="http://schemas.microsoft.com/office/drawing/2014/main" id="{5A081418-CF04-A482-637F-AE91C94A7B6C}"/>
              </a:ext>
            </a:extLst>
          </p:cNvPr>
          <p:cNvPicPr>
            <a:picLocks noGrp="1" noChangeAspect="1"/>
          </p:cNvPicPr>
          <p:nvPr>
            <p:ph idx="1"/>
          </p:nvPr>
        </p:nvPicPr>
        <p:blipFill>
          <a:blip r:embed="rId2"/>
          <a:stretch>
            <a:fillRect/>
          </a:stretch>
        </p:blipFill>
        <p:spPr>
          <a:xfrm>
            <a:off x="2296885" y="2467109"/>
            <a:ext cx="7598230" cy="3552691"/>
          </a:xfrm>
          <a:prstGeom prst="rect">
            <a:avLst/>
          </a:prstGeom>
        </p:spPr>
      </p:pic>
    </p:spTree>
    <p:extLst>
      <p:ext uri="{BB962C8B-B14F-4D97-AF65-F5344CB8AC3E}">
        <p14:creationId xmlns:p14="http://schemas.microsoft.com/office/powerpoint/2010/main" val="4035248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8632-21BB-A838-9259-98851033DE82}"/>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Capital Copenhagen vs Rest of Zealand and East and Mid of Jutland</a:t>
            </a:r>
            <a:endParaRPr lang="en-US" dirty="0"/>
          </a:p>
        </p:txBody>
      </p:sp>
      <p:pic>
        <p:nvPicPr>
          <p:cNvPr id="5" name="Content Placeholder 4">
            <a:extLst>
              <a:ext uri="{FF2B5EF4-FFF2-40B4-BE49-F238E27FC236}">
                <a16:creationId xmlns:a16="http://schemas.microsoft.com/office/drawing/2014/main" id="{375AFDF2-063C-F778-199F-B20A1E7F9317}"/>
              </a:ext>
            </a:extLst>
          </p:cNvPr>
          <p:cNvPicPr>
            <a:picLocks noGrp="1" noChangeAspect="1"/>
          </p:cNvPicPr>
          <p:nvPr>
            <p:ph idx="1"/>
          </p:nvPr>
        </p:nvPicPr>
        <p:blipFill>
          <a:blip r:embed="rId2"/>
          <a:stretch>
            <a:fillRect/>
          </a:stretch>
        </p:blipFill>
        <p:spPr>
          <a:xfrm>
            <a:off x="1348889" y="2449285"/>
            <a:ext cx="9417081" cy="3505513"/>
          </a:xfrm>
          <a:prstGeom prst="rect">
            <a:avLst/>
          </a:prstGeom>
        </p:spPr>
      </p:pic>
    </p:spTree>
    <p:extLst>
      <p:ext uri="{BB962C8B-B14F-4D97-AF65-F5344CB8AC3E}">
        <p14:creationId xmlns:p14="http://schemas.microsoft.com/office/powerpoint/2010/main" val="2201318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C77B13-F25E-B1BA-4485-34F9D938FD08}"/>
              </a:ext>
            </a:extLst>
          </p:cNvPr>
          <p:cNvPicPr>
            <a:picLocks noGrp="1" noChangeAspect="1"/>
          </p:cNvPicPr>
          <p:nvPr>
            <p:ph idx="1"/>
          </p:nvPr>
        </p:nvPicPr>
        <p:blipFill>
          <a:blip r:embed="rId2"/>
          <a:stretch>
            <a:fillRect/>
          </a:stretch>
        </p:blipFill>
        <p:spPr>
          <a:xfrm>
            <a:off x="1054207" y="1045029"/>
            <a:ext cx="10016564" cy="4830309"/>
          </a:xfrm>
          <a:prstGeom prst="rect">
            <a:avLst/>
          </a:prstGeom>
        </p:spPr>
      </p:pic>
    </p:spTree>
    <p:extLst>
      <p:ext uri="{BB962C8B-B14F-4D97-AF65-F5344CB8AC3E}">
        <p14:creationId xmlns:p14="http://schemas.microsoft.com/office/powerpoint/2010/main" val="19360459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B8349-4D57-B21C-737E-F28C3355D2B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Capital Copenhagen vs Rest of Zealand and East and Mid of Jutland</a:t>
            </a:r>
            <a:endParaRPr lang="en-US" dirty="0"/>
          </a:p>
        </p:txBody>
      </p:sp>
      <p:sp>
        <p:nvSpPr>
          <p:cNvPr id="3" name="Content Placeholder 2">
            <a:extLst>
              <a:ext uri="{FF2B5EF4-FFF2-40B4-BE49-F238E27FC236}">
                <a16:creationId xmlns:a16="http://schemas.microsoft.com/office/drawing/2014/main" id="{F0BAE420-9292-4C10-9330-56D5A1C85240}"/>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Copenhagen records the highest price per square meter. </a:t>
            </a:r>
          </a:p>
          <a:p>
            <a:r>
              <a:rPr lang="en-US" dirty="0">
                <a:latin typeface="Times New Roman" panose="02020603050405020304" pitchFamily="18" charset="0"/>
                <a:cs typeface="Times New Roman" panose="02020603050405020304" pitchFamily="18" charset="0"/>
              </a:rPr>
              <a:t>Properties are generally smaller but more expensive. </a:t>
            </a:r>
          </a:p>
          <a:p>
            <a:r>
              <a:rPr lang="en-US" dirty="0">
                <a:latin typeface="Times New Roman" panose="02020603050405020304" pitchFamily="18" charset="0"/>
                <a:cs typeface="Times New Roman" panose="02020603050405020304" pitchFamily="18" charset="0"/>
              </a:rPr>
              <a:t>Other regions offer larger properties at lower prices.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Location greatly affects price per square meter.</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634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B1FC-184C-9D2B-C715-B8A46031A51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Quarter 3 vs Quarter 4 Analysis of Average Square Meter Price</a:t>
            </a:r>
          </a:p>
        </p:txBody>
      </p:sp>
      <p:pic>
        <p:nvPicPr>
          <p:cNvPr id="5" name="Content Placeholder 4">
            <a:extLst>
              <a:ext uri="{FF2B5EF4-FFF2-40B4-BE49-F238E27FC236}">
                <a16:creationId xmlns:a16="http://schemas.microsoft.com/office/drawing/2014/main" id="{5F79CE95-9840-E659-D265-EE8B9E59F5B5}"/>
              </a:ext>
            </a:extLst>
          </p:cNvPr>
          <p:cNvPicPr>
            <a:picLocks noGrp="1" noChangeAspect="1"/>
          </p:cNvPicPr>
          <p:nvPr>
            <p:ph idx="1"/>
          </p:nvPr>
        </p:nvPicPr>
        <p:blipFill>
          <a:blip r:embed="rId2"/>
          <a:stretch>
            <a:fillRect/>
          </a:stretch>
        </p:blipFill>
        <p:spPr>
          <a:xfrm>
            <a:off x="1905000" y="2466782"/>
            <a:ext cx="8403771" cy="3067311"/>
          </a:xfrm>
          <a:prstGeom prst="rect">
            <a:avLst/>
          </a:prstGeom>
        </p:spPr>
      </p:pic>
    </p:spTree>
    <p:extLst>
      <p:ext uri="{BB962C8B-B14F-4D97-AF65-F5344CB8AC3E}">
        <p14:creationId xmlns:p14="http://schemas.microsoft.com/office/powerpoint/2010/main" val="2439137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56B3E-3A57-4915-39AE-5F76A17B80D9}"/>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Quarter 3 vs Quarter 4 Analysis of Number of Sales</a:t>
            </a:r>
            <a:endParaRPr lang="en-US" dirty="0"/>
          </a:p>
        </p:txBody>
      </p:sp>
      <p:pic>
        <p:nvPicPr>
          <p:cNvPr id="5" name="Content Placeholder 4">
            <a:extLst>
              <a:ext uri="{FF2B5EF4-FFF2-40B4-BE49-F238E27FC236}">
                <a16:creationId xmlns:a16="http://schemas.microsoft.com/office/drawing/2014/main" id="{5F784233-24C1-AC9F-00AE-C3E67AE160B3}"/>
              </a:ext>
            </a:extLst>
          </p:cNvPr>
          <p:cNvPicPr>
            <a:picLocks noGrp="1" noChangeAspect="1"/>
          </p:cNvPicPr>
          <p:nvPr>
            <p:ph idx="1"/>
          </p:nvPr>
        </p:nvPicPr>
        <p:blipFill>
          <a:blip r:embed="rId2"/>
          <a:stretch>
            <a:fillRect/>
          </a:stretch>
        </p:blipFill>
        <p:spPr>
          <a:xfrm>
            <a:off x="1730829" y="2430194"/>
            <a:ext cx="8686800" cy="3694202"/>
          </a:xfrm>
          <a:prstGeom prst="rect">
            <a:avLst/>
          </a:prstGeom>
        </p:spPr>
      </p:pic>
    </p:spTree>
    <p:extLst>
      <p:ext uri="{BB962C8B-B14F-4D97-AF65-F5344CB8AC3E}">
        <p14:creationId xmlns:p14="http://schemas.microsoft.com/office/powerpoint/2010/main" val="668294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6B397-763C-B4E8-5DDE-484B5E4DBA66}"/>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Quarter 3 vs Quarter 4 Analysis</a:t>
            </a:r>
            <a:endParaRPr lang="en-US" dirty="0"/>
          </a:p>
        </p:txBody>
      </p:sp>
      <p:sp>
        <p:nvSpPr>
          <p:cNvPr id="3" name="Content Placeholder 2">
            <a:extLst>
              <a:ext uri="{FF2B5EF4-FFF2-40B4-BE49-F238E27FC236}">
                <a16:creationId xmlns:a16="http://schemas.microsoft.com/office/drawing/2014/main" id="{BE9E2C52-72AF-52A8-1F7C-B5175CE86D6F}"/>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Average prices changed by decreasing from Quarter 3 to Quarter 4.</a:t>
            </a:r>
          </a:p>
          <a:p>
            <a:r>
              <a:rPr lang="en-US" dirty="0">
                <a:latin typeface="Times New Roman" panose="02020603050405020304" pitchFamily="18" charset="0"/>
                <a:cs typeface="Times New Roman" panose="02020603050405020304" pitchFamily="18" charset="0"/>
              </a:rPr>
              <a:t>Sales volume also fluctuated by decreasing from Quarter 3 to Quarter 4. </a:t>
            </a:r>
          </a:p>
          <a:p>
            <a:r>
              <a:rPr lang="en-US" dirty="0">
                <a:latin typeface="Times New Roman" panose="02020603050405020304" pitchFamily="18" charset="0"/>
                <a:cs typeface="Times New Roman" panose="02020603050405020304" pitchFamily="18" charset="0"/>
              </a:rPr>
              <a:t>Seasonal effects were observed.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Housing prices and market activity vary over time.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4900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6498-1E21-121A-A7FE-0447FD687D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Top 5% Most Expensive Properties</a:t>
            </a:r>
          </a:p>
        </p:txBody>
      </p:sp>
      <p:pic>
        <p:nvPicPr>
          <p:cNvPr id="5" name="Content Placeholder 4">
            <a:extLst>
              <a:ext uri="{FF2B5EF4-FFF2-40B4-BE49-F238E27FC236}">
                <a16:creationId xmlns:a16="http://schemas.microsoft.com/office/drawing/2014/main" id="{53DCB025-0E15-649D-5172-ACC9E2974274}"/>
              </a:ext>
            </a:extLst>
          </p:cNvPr>
          <p:cNvPicPr>
            <a:picLocks noGrp="1" noChangeAspect="1"/>
          </p:cNvPicPr>
          <p:nvPr>
            <p:ph idx="1"/>
          </p:nvPr>
        </p:nvPicPr>
        <p:blipFill>
          <a:blip r:embed="rId2"/>
          <a:stretch>
            <a:fillRect/>
          </a:stretch>
        </p:blipFill>
        <p:spPr>
          <a:xfrm>
            <a:off x="1527982" y="2470524"/>
            <a:ext cx="3893104" cy="3700377"/>
          </a:xfrm>
          <a:prstGeom prst="rect">
            <a:avLst/>
          </a:prstGeom>
        </p:spPr>
      </p:pic>
      <p:pic>
        <p:nvPicPr>
          <p:cNvPr id="9" name="Picture 8">
            <a:extLst>
              <a:ext uri="{FF2B5EF4-FFF2-40B4-BE49-F238E27FC236}">
                <a16:creationId xmlns:a16="http://schemas.microsoft.com/office/drawing/2014/main" id="{00105418-5A71-3C63-0A0B-EA5FADB879A0}"/>
              </a:ext>
            </a:extLst>
          </p:cNvPr>
          <p:cNvPicPr>
            <a:picLocks noChangeAspect="1"/>
          </p:cNvPicPr>
          <p:nvPr/>
        </p:nvPicPr>
        <p:blipFill>
          <a:blip r:embed="rId3"/>
          <a:stretch>
            <a:fillRect/>
          </a:stretch>
        </p:blipFill>
        <p:spPr>
          <a:xfrm>
            <a:off x="5744352" y="2582967"/>
            <a:ext cx="5035809" cy="3587934"/>
          </a:xfrm>
          <a:prstGeom prst="rect">
            <a:avLst/>
          </a:prstGeom>
        </p:spPr>
      </p:pic>
    </p:spTree>
    <p:extLst>
      <p:ext uri="{BB962C8B-B14F-4D97-AF65-F5344CB8AC3E}">
        <p14:creationId xmlns:p14="http://schemas.microsoft.com/office/powerpoint/2010/main" val="3932430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15746-F13E-B0EB-7E47-79CC3FA38FC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Top 5% Most Expensive Properties</a:t>
            </a:r>
            <a:endParaRPr lang="en-US" dirty="0"/>
          </a:p>
        </p:txBody>
      </p:sp>
      <p:pic>
        <p:nvPicPr>
          <p:cNvPr id="5" name="Content Placeholder 4">
            <a:extLst>
              <a:ext uri="{FF2B5EF4-FFF2-40B4-BE49-F238E27FC236}">
                <a16:creationId xmlns:a16="http://schemas.microsoft.com/office/drawing/2014/main" id="{083B38DB-894E-85C2-2352-37D95757A114}"/>
              </a:ext>
            </a:extLst>
          </p:cNvPr>
          <p:cNvPicPr>
            <a:picLocks noGrp="1" noChangeAspect="1"/>
          </p:cNvPicPr>
          <p:nvPr>
            <p:ph idx="1"/>
          </p:nvPr>
        </p:nvPicPr>
        <p:blipFill>
          <a:blip r:embed="rId2"/>
          <a:stretch>
            <a:fillRect/>
          </a:stretch>
        </p:blipFill>
        <p:spPr>
          <a:xfrm>
            <a:off x="963116" y="2470907"/>
            <a:ext cx="4839563" cy="3317875"/>
          </a:xfrm>
          <a:prstGeom prst="rect">
            <a:avLst/>
          </a:prstGeom>
        </p:spPr>
      </p:pic>
      <p:pic>
        <p:nvPicPr>
          <p:cNvPr id="7" name="Picture 6">
            <a:extLst>
              <a:ext uri="{FF2B5EF4-FFF2-40B4-BE49-F238E27FC236}">
                <a16:creationId xmlns:a16="http://schemas.microsoft.com/office/drawing/2014/main" id="{C178DE45-59EE-7921-AA05-8515E88A8AD9}"/>
              </a:ext>
            </a:extLst>
          </p:cNvPr>
          <p:cNvPicPr>
            <a:picLocks noChangeAspect="1"/>
          </p:cNvPicPr>
          <p:nvPr/>
        </p:nvPicPr>
        <p:blipFill>
          <a:blip r:embed="rId3"/>
          <a:stretch>
            <a:fillRect/>
          </a:stretch>
        </p:blipFill>
        <p:spPr>
          <a:xfrm>
            <a:off x="6096000" y="2470907"/>
            <a:ext cx="5378726" cy="3886400"/>
          </a:xfrm>
          <a:prstGeom prst="rect">
            <a:avLst/>
          </a:prstGeom>
        </p:spPr>
      </p:pic>
    </p:spTree>
    <p:extLst>
      <p:ext uri="{BB962C8B-B14F-4D97-AF65-F5344CB8AC3E}">
        <p14:creationId xmlns:p14="http://schemas.microsoft.com/office/powerpoint/2010/main" val="3031821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9580-8B8D-107D-A807-0EDFC7EE4106}"/>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Top 5% Most Expensive Properties</a:t>
            </a:r>
            <a:endParaRPr lang="en-US" dirty="0"/>
          </a:p>
        </p:txBody>
      </p:sp>
      <p:pic>
        <p:nvPicPr>
          <p:cNvPr id="5" name="Content Placeholder 4">
            <a:extLst>
              <a:ext uri="{FF2B5EF4-FFF2-40B4-BE49-F238E27FC236}">
                <a16:creationId xmlns:a16="http://schemas.microsoft.com/office/drawing/2014/main" id="{1E40827D-71D2-F44B-0013-11DF0E117689}"/>
              </a:ext>
            </a:extLst>
          </p:cNvPr>
          <p:cNvPicPr>
            <a:picLocks noGrp="1" noChangeAspect="1"/>
          </p:cNvPicPr>
          <p:nvPr>
            <p:ph idx="1"/>
          </p:nvPr>
        </p:nvPicPr>
        <p:blipFill>
          <a:blip r:embed="rId2"/>
          <a:stretch>
            <a:fillRect/>
          </a:stretch>
        </p:blipFill>
        <p:spPr>
          <a:xfrm>
            <a:off x="3912129" y="2456761"/>
            <a:ext cx="4471047" cy="3602516"/>
          </a:xfrm>
          <a:prstGeom prst="rect">
            <a:avLst/>
          </a:prstGeom>
        </p:spPr>
      </p:pic>
    </p:spTree>
    <p:extLst>
      <p:ext uri="{BB962C8B-B14F-4D97-AF65-F5344CB8AC3E}">
        <p14:creationId xmlns:p14="http://schemas.microsoft.com/office/powerpoint/2010/main" val="1724028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F429-7E8D-926C-3D3C-2E12CEF57F6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Top 5% Most Expensive Properties</a:t>
            </a:r>
            <a:endParaRPr lang="en-US" dirty="0"/>
          </a:p>
        </p:txBody>
      </p:sp>
      <p:sp>
        <p:nvSpPr>
          <p:cNvPr id="3" name="Content Placeholder 2">
            <a:extLst>
              <a:ext uri="{FF2B5EF4-FFF2-40B4-BE49-F238E27FC236}">
                <a16:creationId xmlns:a16="http://schemas.microsoft.com/office/drawing/2014/main" id="{2D328CD3-6210-CA5B-EAF4-1CBEE66D8A1A}"/>
              </a:ext>
            </a:extLst>
          </p:cNvPr>
          <p:cNvSpPr>
            <a:spLocks noGrp="1"/>
          </p:cNvSpPr>
          <p:nvPr>
            <p:ph idx="1"/>
          </p:nvPr>
        </p:nvSpPr>
        <p:spPr/>
        <p:txBody>
          <a:bodyPr>
            <a:normAutofit fontScale="77500" lnSpcReduction="20000"/>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Luxury properties generally have:</a:t>
            </a:r>
          </a:p>
          <a:p>
            <a:r>
              <a:rPr lang="en-US" dirty="0">
                <a:latin typeface="Times New Roman" panose="02020603050405020304" pitchFamily="18" charset="0"/>
                <a:cs typeface="Times New Roman" panose="02020603050405020304" pitchFamily="18" charset="0"/>
              </a:rPr>
              <a:t>Larger sizes </a:t>
            </a:r>
          </a:p>
          <a:p>
            <a:r>
              <a:rPr lang="en-US" dirty="0">
                <a:latin typeface="Times New Roman" panose="02020603050405020304" pitchFamily="18" charset="0"/>
                <a:cs typeface="Times New Roman" panose="02020603050405020304" pitchFamily="18" charset="0"/>
              </a:rPr>
              <a:t>Premium locations </a:t>
            </a:r>
          </a:p>
          <a:p>
            <a:r>
              <a:rPr lang="en-US" dirty="0">
                <a:latin typeface="Times New Roman" panose="02020603050405020304" pitchFamily="18" charset="0"/>
                <a:cs typeface="Times New Roman" panose="02020603050405020304" pitchFamily="18" charset="0"/>
              </a:rPr>
              <a:t>Higher price per square meter </a:t>
            </a:r>
          </a:p>
          <a:p>
            <a:r>
              <a:rPr lang="en-US" dirty="0">
                <a:latin typeface="Times New Roman" panose="02020603050405020304" pitchFamily="18" charset="0"/>
                <a:cs typeface="Times New Roman" panose="02020603050405020304" pitchFamily="18" charset="0"/>
              </a:rPr>
              <a:t>Mostly villas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Luxury homes possess unique characteristics that distinguish them from ordinary properties.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9360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F248-783C-7DFC-9B07-3C509110ABF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Distribution of Housing Data</a:t>
            </a:r>
          </a:p>
        </p:txBody>
      </p:sp>
      <p:pic>
        <p:nvPicPr>
          <p:cNvPr id="5" name="Content Placeholder 4">
            <a:extLst>
              <a:ext uri="{FF2B5EF4-FFF2-40B4-BE49-F238E27FC236}">
                <a16:creationId xmlns:a16="http://schemas.microsoft.com/office/drawing/2014/main" id="{43C0CC0F-C8B1-F70A-BA45-C19B4493503C}"/>
              </a:ext>
            </a:extLst>
          </p:cNvPr>
          <p:cNvPicPr>
            <a:picLocks noGrp="1" noChangeAspect="1"/>
          </p:cNvPicPr>
          <p:nvPr>
            <p:ph idx="1"/>
          </p:nvPr>
        </p:nvPicPr>
        <p:blipFill>
          <a:blip r:embed="rId2"/>
          <a:stretch>
            <a:fillRect/>
          </a:stretch>
        </p:blipFill>
        <p:spPr>
          <a:xfrm>
            <a:off x="1542362" y="2478795"/>
            <a:ext cx="9354236" cy="3716562"/>
          </a:xfrm>
          <a:prstGeom prst="rect">
            <a:avLst/>
          </a:prstGeom>
        </p:spPr>
      </p:pic>
    </p:spTree>
    <p:extLst>
      <p:ext uri="{BB962C8B-B14F-4D97-AF65-F5344CB8AC3E}">
        <p14:creationId xmlns:p14="http://schemas.microsoft.com/office/powerpoint/2010/main" val="15559476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50C1-CC86-A18E-4C84-729BF56A8F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Distribution of Housing Data</a:t>
            </a:r>
            <a:endParaRPr lang="en-US" dirty="0"/>
          </a:p>
        </p:txBody>
      </p:sp>
      <p:sp>
        <p:nvSpPr>
          <p:cNvPr id="3" name="Content Placeholder 2">
            <a:extLst>
              <a:ext uri="{FF2B5EF4-FFF2-40B4-BE49-F238E27FC236}">
                <a16:creationId xmlns:a16="http://schemas.microsoft.com/office/drawing/2014/main" id="{D47FBB41-FF86-0D18-6A14-28195D01EEF7}"/>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Villas dominate the dataset. </a:t>
            </a:r>
          </a:p>
          <a:p>
            <a:r>
              <a:rPr lang="en-US" dirty="0">
                <a:latin typeface="Times New Roman" panose="02020603050405020304" pitchFamily="18" charset="0"/>
                <a:cs typeface="Times New Roman" panose="02020603050405020304" pitchFamily="18" charset="0"/>
              </a:rPr>
              <a:t>Some regions contain more observations. </a:t>
            </a:r>
          </a:p>
          <a:p>
            <a:r>
              <a:rPr lang="en-US" dirty="0">
                <a:latin typeface="Times New Roman" panose="02020603050405020304" pitchFamily="18" charset="0"/>
                <a:cs typeface="Times New Roman" panose="02020603050405020304" pitchFamily="18" charset="0"/>
              </a:rPr>
              <a:t>Housing prices are positively skewed.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The dataset reflects a diverse housing market.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533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037A2-08DE-A43E-C1D5-1529C158709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Housing Price Trends Over Time</a:t>
            </a:r>
          </a:p>
        </p:txBody>
      </p:sp>
      <p:pic>
        <p:nvPicPr>
          <p:cNvPr id="5" name="Content Placeholder 4">
            <a:extLst>
              <a:ext uri="{FF2B5EF4-FFF2-40B4-BE49-F238E27FC236}">
                <a16:creationId xmlns:a16="http://schemas.microsoft.com/office/drawing/2014/main" id="{F4F4102A-B621-A7A8-8941-1E7C3B821B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2531" y="2544897"/>
            <a:ext cx="8901628" cy="3527492"/>
          </a:xfrm>
          <a:prstGeom prst="rect">
            <a:avLst/>
          </a:prstGeom>
        </p:spPr>
      </p:pic>
    </p:spTree>
    <p:extLst>
      <p:ext uri="{BB962C8B-B14F-4D97-AF65-F5344CB8AC3E}">
        <p14:creationId xmlns:p14="http://schemas.microsoft.com/office/powerpoint/2010/main" val="3035946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FD5E-1644-85F7-35DB-21A672F068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Housing Price Trends Over Time</a:t>
            </a:r>
          </a:p>
        </p:txBody>
      </p:sp>
      <p:pic>
        <p:nvPicPr>
          <p:cNvPr id="5" name="Content Placeholder 4">
            <a:extLst>
              <a:ext uri="{FF2B5EF4-FFF2-40B4-BE49-F238E27FC236}">
                <a16:creationId xmlns:a16="http://schemas.microsoft.com/office/drawing/2014/main" id="{29D728CA-E047-DBAC-C0BB-536EEB514CA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10"/>
          <a:stretch>
            <a:fillRect/>
          </a:stretch>
        </p:blipFill>
        <p:spPr>
          <a:xfrm>
            <a:off x="1553379" y="2437551"/>
            <a:ext cx="8989763" cy="3762075"/>
          </a:xfrm>
          <a:prstGeom prst="rect">
            <a:avLst/>
          </a:prstGeom>
        </p:spPr>
      </p:pic>
    </p:spTree>
    <p:extLst>
      <p:ext uri="{BB962C8B-B14F-4D97-AF65-F5344CB8AC3E}">
        <p14:creationId xmlns:p14="http://schemas.microsoft.com/office/powerpoint/2010/main" val="3167779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8827-FE40-8358-922B-38CD0EB20F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Housing Price Trends Over Time</a:t>
            </a:r>
            <a:endParaRPr lang="en-US" dirty="0"/>
          </a:p>
        </p:txBody>
      </p:sp>
      <p:sp>
        <p:nvSpPr>
          <p:cNvPr id="3" name="Content Placeholder 2">
            <a:extLst>
              <a:ext uri="{FF2B5EF4-FFF2-40B4-BE49-F238E27FC236}">
                <a16:creationId xmlns:a16="http://schemas.microsoft.com/office/drawing/2014/main" id="{AF5193E7-8ED6-D77C-F7CE-53518EBE069D}"/>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Prices fluctuate across time. </a:t>
            </a:r>
          </a:p>
          <a:p>
            <a:r>
              <a:rPr lang="en-US" dirty="0">
                <a:latin typeface="Times New Roman" panose="02020603050405020304" pitchFamily="18" charset="0"/>
                <a:cs typeface="Times New Roman" panose="02020603050405020304" pitchFamily="18" charset="0"/>
              </a:rPr>
              <a:t>Regional trends differ. </a:t>
            </a:r>
          </a:p>
          <a:p>
            <a:r>
              <a:rPr lang="en-US" dirty="0">
                <a:latin typeface="Times New Roman" panose="02020603050405020304" pitchFamily="18" charset="0"/>
                <a:cs typeface="Times New Roman" panose="02020603050405020304" pitchFamily="18" charset="0"/>
              </a:rPr>
              <a:t>Sales volume changes seasonally.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Housing markets are dynamic and influenced by time.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7846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4CB3-C3DE-3302-4512-DCD1BCE1D0A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Correlation Analysis</a:t>
            </a:r>
          </a:p>
        </p:txBody>
      </p:sp>
      <p:pic>
        <p:nvPicPr>
          <p:cNvPr id="5" name="Content Placeholder 4">
            <a:extLst>
              <a:ext uri="{FF2B5EF4-FFF2-40B4-BE49-F238E27FC236}">
                <a16:creationId xmlns:a16="http://schemas.microsoft.com/office/drawing/2014/main" id="{991B83C2-D07C-68B3-7C69-E6B0102A215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270"/>
          <a:stretch>
            <a:fillRect/>
          </a:stretch>
        </p:blipFill>
        <p:spPr>
          <a:xfrm>
            <a:off x="1505180" y="2556443"/>
            <a:ext cx="9181639" cy="3319425"/>
          </a:xfrm>
          <a:prstGeom prst="rect">
            <a:avLst/>
          </a:prstGeom>
        </p:spPr>
      </p:pic>
    </p:spTree>
    <p:extLst>
      <p:ext uri="{BB962C8B-B14F-4D97-AF65-F5344CB8AC3E}">
        <p14:creationId xmlns:p14="http://schemas.microsoft.com/office/powerpoint/2010/main" val="7628476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9A5BA-76E3-FD79-45CD-F4B48EBD08F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Correlation Analysis</a:t>
            </a:r>
          </a:p>
        </p:txBody>
      </p:sp>
      <p:sp>
        <p:nvSpPr>
          <p:cNvPr id="3" name="Content Placeholder 2">
            <a:extLst>
              <a:ext uri="{FF2B5EF4-FFF2-40B4-BE49-F238E27FC236}">
                <a16:creationId xmlns:a16="http://schemas.microsoft.com/office/drawing/2014/main" id="{ADA54C21-B62C-0952-06DD-F16C5310AFA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Purchase price strongly correlates with property size. </a:t>
            </a:r>
          </a:p>
          <a:p>
            <a:r>
              <a:rPr lang="en-US" dirty="0">
                <a:latin typeface="Times New Roman" panose="02020603050405020304" pitchFamily="18" charset="0"/>
                <a:cs typeface="Times New Roman" panose="02020603050405020304" pitchFamily="18" charset="0"/>
              </a:rPr>
              <a:t>Price per square meter has a moderate relationship. </a:t>
            </a:r>
          </a:p>
          <a:p>
            <a:r>
              <a:rPr lang="en-US" dirty="0">
                <a:latin typeface="Times New Roman" panose="02020603050405020304" pitchFamily="18" charset="0"/>
                <a:cs typeface="Times New Roman" panose="02020603050405020304" pitchFamily="18" charset="0"/>
              </a:rPr>
              <a:t>Some variables have weak correlations.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Property size is among the strongest predictors of housing prices.</a:t>
            </a:r>
          </a:p>
        </p:txBody>
      </p:sp>
    </p:spTree>
    <p:extLst>
      <p:ext uri="{BB962C8B-B14F-4D97-AF65-F5344CB8AC3E}">
        <p14:creationId xmlns:p14="http://schemas.microsoft.com/office/powerpoint/2010/main" val="38437891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0621-BFF2-FFEE-24AA-86504F7F93D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Negotiation Outcomes</a:t>
            </a:r>
          </a:p>
        </p:txBody>
      </p:sp>
      <p:pic>
        <p:nvPicPr>
          <p:cNvPr id="5" name="Content Placeholder 4">
            <a:extLst>
              <a:ext uri="{FF2B5EF4-FFF2-40B4-BE49-F238E27FC236}">
                <a16:creationId xmlns:a16="http://schemas.microsoft.com/office/drawing/2014/main" id="{84FA6DBA-1590-7BE9-296D-18585CD2F4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9142" y="2557463"/>
            <a:ext cx="9265186" cy="3317875"/>
          </a:xfrm>
          <a:prstGeom prst="rect">
            <a:avLst/>
          </a:prstGeom>
        </p:spPr>
      </p:pic>
    </p:spTree>
    <p:extLst>
      <p:ext uri="{BB962C8B-B14F-4D97-AF65-F5344CB8AC3E}">
        <p14:creationId xmlns:p14="http://schemas.microsoft.com/office/powerpoint/2010/main" val="35583376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DD5B-6252-7E18-D241-AA5E7E49A0B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Negotiation Outcomes</a:t>
            </a:r>
            <a:endParaRPr lang="en-US" dirty="0"/>
          </a:p>
        </p:txBody>
      </p:sp>
      <p:sp>
        <p:nvSpPr>
          <p:cNvPr id="3" name="Content Placeholder 2">
            <a:extLst>
              <a:ext uri="{FF2B5EF4-FFF2-40B4-BE49-F238E27FC236}">
                <a16:creationId xmlns:a16="http://schemas.microsoft.com/office/drawing/2014/main" id="{8663665A-6984-F44D-D231-E50AFC5EA2FB}"/>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Purchase prices are generally below offer prices. </a:t>
            </a:r>
          </a:p>
          <a:p>
            <a:r>
              <a:rPr lang="en-US" dirty="0">
                <a:latin typeface="Times New Roman" panose="02020603050405020304" pitchFamily="18" charset="0"/>
                <a:cs typeface="Times New Roman" panose="02020603050405020304" pitchFamily="18" charset="0"/>
              </a:rPr>
              <a:t>Negotiation differences vary across property types. </a:t>
            </a:r>
          </a:p>
          <a:p>
            <a:r>
              <a:rPr lang="en-US" dirty="0">
                <a:latin typeface="Times New Roman" panose="02020603050405020304" pitchFamily="18" charset="0"/>
                <a:cs typeface="Times New Roman" panose="02020603050405020304" pitchFamily="18" charset="0"/>
              </a:rPr>
              <a:t>Regional differences also exist.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Negotiation outcomes depend on both property type and location.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903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99BE0-E6E2-0411-B071-62854425966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Age and Construction Decade</a:t>
            </a:r>
          </a:p>
        </p:txBody>
      </p:sp>
      <p:pic>
        <p:nvPicPr>
          <p:cNvPr id="5" name="Content Placeholder 4">
            <a:extLst>
              <a:ext uri="{FF2B5EF4-FFF2-40B4-BE49-F238E27FC236}">
                <a16:creationId xmlns:a16="http://schemas.microsoft.com/office/drawing/2014/main" id="{5002AE9F-4411-3431-CB8E-96A7ED4959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5745" y="2504572"/>
            <a:ext cx="6973677" cy="3371296"/>
          </a:xfrm>
          <a:prstGeom prst="rect">
            <a:avLst/>
          </a:prstGeom>
        </p:spPr>
      </p:pic>
    </p:spTree>
    <p:extLst>
      <p:ext uri="{BB962C8B-B14F-4D97-AF65-F5344CB8AC3E}">
        <p14:creationId xmlns:p14="http://schemas.microsoft.com/office/powerpoint/2010/main" val="340286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7753B-8A10-9322-97E5-C84D7BC98BC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Age and Construction Decade</a:t>
            </a:r>
            <a:endParaRPr lang="en-US" dirty="0"/>
          </a:p>
        </p:txBody>
      </p:sp>
      <p:pic>
        <p:nvPicPr>
          <p:cNvPr id="5" name="Content Placeholder 4">
            <a:extLst>
              <a:ext uri="{FF2B5EF4-FFF2-40B4-BE49-F238E27FC236}">
                <a16:creationId xmlns:a16="http://schemas.microsoft.com/office/drawing/2014/main" id="{12687414-0A08-E021-402B-7693F716C1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7614" y="2533879"/>
            <a:ext cx="8879595" cy="3516129"/>
          </a:xfrm>
          <a:prstGeom prst="rect">
            <a:avLst/>
          </a:prstGeom>
        </p:spPr>
      </p:pic>
    </p:spTree>
    <p:extLst>
      <p:ext uri="{BB962C8B-B14F-4D97-AF65-F5344CB8AC3E}">
        <p14:creationId xmlns:p14="http://schemas.microsoft.com/office/powerpoint/2010/main" val="34749631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62B1-C3BC-C83F-32F7-8E8629F22F1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Age and Construction Decade</a:t>
            </a:r>
            <a:endParaRPr lang="en-US" dirty="0"/>
          </a:p>
        </p:txBody>
      </p:sp>
      <p:sp>
        <p:nvSpPr>
          <p:cNvPr id="3" name="Content Placeholder 2">
            <a:extLst>
              <a:ext uri="{FF2B5EF4-FFF2-40B4-BE49-F238E27FC236}">
                <a16:creationId xmlns:a16="http://schemas.microsoft.com/office/drawing/2014/main" id="{B05366C7-3268-C83E-4EB9-D8B19AD0A8BC}"/>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Findings</a:t>
            </a:r>
          </a:p>
          <a:p>
            <a:r>
              <a:rPr lang="en-US" dirty="0">
                <a:latin typeface="Times New Roman" panose="02020603050405020304" pitchFamily="18" charset="0"/>
                <a:cs typeface="Times New Roman" panose="02020603050405020304" pitchFamily="18" charset="0"/>
              </a:rPr>
              <a:t>Newer properties generally have higher average prices. </a:t>
            </a:r>
          </a:p>
          <a:p>
            <a:r>
              <a:rPr lang="en-US" dirty="0">
                <a:latin typeface="Times New Roman" panose="02020603050405020304" pitchFamily="18" charset="0"/>
                <a:cs typeface="Times New Roman" panose="02020603050405020304" pitchFamily="18" charset="0"/>
              </a:rPr>
              <a:t>Housing prices decrease as buildings age. </a:t>
            </a:r>
          </a:p>
          <a:p>
            <a:r>
              <a:rPr lang="en-US" dirty="0">
                <a:latin typeface="Times New Roman" panose="02020603050405020304" pitchFamily="18" charset="0"/>
                <a:cs typeface="Times New Roman" panose="02020603050405020304" pitchFamily="18" charset="0"/>
              </a:rPr>
              <a:t>Some older historic properties remain valuable. </a:t>
            </a:r>
          </a:p>
          <a:p>
            <a:r>
              <a:rPr lang="en-US" dirty="0">
                <a:latin typeface="Times New Roman" panose="02020603050405020304" pitchFamily="18" charset="0"/>
                <a:cs typeface="Times New Roman" panose="02020603050405020304" pitchFamily="18" charset="0"/>
              </a:rPr>
              <a:t>Construction decade influences market value. </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Property age and construction period significantly affect housing prices.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1407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8C627-F9E0-B3AF-A77F-431DECBB393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FA7FCB0A-BC28-1D67-1F91-F79CAB5784E5}"/>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Region strongly influences housing prices. </a:t>
            </a:r>
          </a:p>
          <a:p>
            <a:r>
              <a:rPr lang="en-US" dirty="0">
                <a:latin typeface="Times New Roman" panose="02020603050405020304" pitchFamily="18" charset="0"/>
                <a:cs typeface="Times New Roman" panose="02020603050405020304" pitchFamily="18" charset="0"/>
              </a:rPr>
              <a:t>Property size positively affects purchase price. </a:t>
            </a:r>
          </a:p>
          <a:p>
            <a:r>
              <a:rPr lang="en-US" dirty="0">
                <a:latin typeface="Times New Roman" panose="02020603050405020304" pitchFamily="18" charset="0"/>
                <a:cs typeface="Times New Roman" panose="02020603050405020304" pitchFamily="18" charset="0"/>
              </a:rPr>
              <a:t>Villas are generally more expensive. </a:t>
            </a:r>
          </a:p>
          <a:p>
            <a:r>
              <a:rPr lang="en-US" dirty="0">
                <a:latin typeface="Times New Roman" panose="02020603050405020304" pitchFamily="18" charset="0"/>
                <a:cs typeface="Times New Roman" panose="02020603050405020304" pitchFamily="18" charset="0"/>
              </a:rPr>
              <a:t>Copenhagen remains the most expensive area. </a:t>
            </a:r>
          </a:p>
          <a:p>
            <a:r>
              <a:rPr lang="en-US" dirty="0">
                <a:latin typeface="Times New Roman" panose="02020603050405020304" pitchFamily="18" charset="0"/>
                <a:cs typeface="Times New Roman" panose="02020603050405020304" pitchFamily="18" charset="0"/>
              </a:rPr>
              <a:t>Newer properties command higher prices. </a:t>
            </a:r>
          </a:p>
          <a:p>
            <a:r>
              <a:rPr lang="en-US" dirty="0">
                <a:latin typeface="Times New Roman" panose="02020603050405020304" pitchFamily="18" charset="0"/>
                <a:cs typeface="Times New Roman" panose="02020603050405020304" pitchFamily="18" charset="0"/>
              </a:rPr>
              <a:t>Negotiation outcomes differ across regions. </a:t>
            </a:r>
          </a:p>
          <a:p>
            <a:r>
              <a:rPr lang="en-US" dirty="0">
                <a:latin typeface="Times New Roman" panose="02020603050405020304" pitchFamily="18" charset="0"/>
                <a:cs typeface="Times New Roman" panose="02020603050405020304" pitchFamily="18" charset="0"/>
              </a:rPr>
              <a:t>Construction decade affects valuation. </a:t>
            </a:r>
          </a:p>
          <a:p>
            <a:r>
              <a:rPr lang="en-US" dirty="0">
                <a:latin typeface="Times New Roman" panose="02020603050405020304" pitchFamily="18" charset="0"/>
                <a:cs typeface="Times New Roman" panose="02020603050405020304" pitchFamily="18" charset="0"/>
              </a:rPr>
              <a:t>Exploratory Data Analysis successfully identified market trends.</a:t>
            </a:r>
          </a:p>
        </p:txBody>
      </p:sp>
    </p:spTree>
    <p:extLst>
      <p:ext uri="{BB962C8B-B14F-4D97-AF65-F5344CB8AC3E}">
        <p14:creationId xmlns:p14="http://schemas.microsoft.com/office/powerpoint/2010/main" val="193979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AD861-1E97-9592-A23D-5CCD9B138240}"/>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4E1D73CC-BF44-61B6-B995-F8A10CA4B5C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Dataset limited to available variables. </a:t>
            </a:r>
          </a:p>
          <a:p>
            <a:r>
              <a:rPr lang="en-US" dirty="0">
                <a:latin typeface="Times New Roman" panose="02020603050405020304" pitchFamily="18" charset="0"/>
                <a:cs typeface="Times New Roman" panose="02020603050405020304" pitchFamily="18" charset="0"/>
              </a:rPr>
              <a:t>Inflation was not considered. </a:t>
            </a:r>
          </a:p>
          <a:p>
            <a:r>
              <a:rPr lang="en-US" dirty="0">
                <a:latin typeface="Times New Roman" panose="02020603050405020304" pitchFamily="18" charset="0"/>
                <a:cs typeface="Times New Roman" panose="02020603050405020304" pitchFamily="18" charset="0"/>
              </a:rPr>
              <a:t>Interest rates were excluded. </a:t>
            </a:r>
          </a:p>
          <a:p>
            <a:r>
              <a:rPr lang="en-US" dirty="0">
                <a:latin typeface="Times New Roman" panose="02020603050405020304" pitchFamily="18" charset="0"/>
                <a:cs typeface="Times New Roman" panose="02020603050405020304" pitchFamily="18" charset="0"/>
              </a:rPr>
              <a:t>Economic indicators were unavailable. </a:t>
            </a:r>
          </a:p>
          <a:p>
            <a:r>
              <a:rPr lang="en-US" dirty="0">
                <a:latin typeface="Times New Roman" panose="02020603050405020304" pitchFamily="18" charset="0"/>
                <a:cs typeface="Times New Roman" panose="02020603050405020304" pitchFamily="18" charset="0"/>
              </a:rPr>
              <a:t>Results are limited to the study period.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1790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02C5A-3DC9-9DAC-FF90-0AD8DAC5FA8C}"/>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5030854-253C-D3A1-5987-74173A4BC1F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study successfully applied Exploratory Data Analysis techniques to investigate the Danish housing market. </a:t>
            </a:r>
          </a:p>
          <a:p>
            <a:r>
              <a:rPr lang="en-US" dirty="0">
                <a:latin typeface="Times New Roman" panose="02020603050405020304" pitchFamily="18" charset="0"/>
                <a:cs typeface="Times New Roman" panose="02020603050405020304" pitchFamily="18" charset="0"/>
              </a:rPr>
              <a:t>The analysis revealed that housing prices are influenced by region, property type, property size, negotiation outcomes, property age, and construction decade. </a:t>
            </a:r>
          </a:p>
          <a:p>
            <a:r>
              <a:rPr lang="en-US" dirty="0">
                <a:latin typeface="Times New Roman" panose="02020603050405020304" pitchFamily="18" charset="0"/>
                <a:cs typeface="Times New Roman" panose="02020603050405020304" pitchFamily="18" charset="0"/>
              </a:rPr>
              <a:t>The visualizations and statistical summaries provided meaningful insights that can support informed decision-making for buyers, investors, real estate professionals, and policymakers.</a:t>
            </a:r>
          </a:p>
        </p:txBody>
      </p:sp>
    </p:spTree>
    <p:extLst>
      <p:ext uri="{BB962C8B-B14F-4D97-AF65-F5344CB8AC3E}">
        <p14:creationId xmlns:p14="http://schemas.microsoft.com/office/powerpoint/2010/main" val="3962263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CDDF-CD35-BCEF-E5AC-58ABF48908A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5426E9DE-4F84-7CEA-06F4-D269D52A0A4D}"/>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Buyers: </a:t>
            </a:r>
            <a:r>
              <a:rPr lang="en-US" dirty="0">
                <a:latin typeface="Times New Roman" panose="02020603050405020304" pitchFamily="18" charset="0"/>
                <a:cs typeface="Times New Roman" panose="02020603050405020304" pitchFamily="18" charset="0"/>
              </a:rPr>
              <a:t>Consider older houses for affordability.</a:t>
            </a:r>
          </a:p>
          <a:p>
            <a:r>
              <a:rPr lang="en-US" b="1" dirty="0">
                <a:latin typeface="Times New Roman" panose="02020603050405020304" pitchFamily="18" charset="0"/>
                <a:cs typeface="Times New Roman" panose="02020603050405020304" pitchFamily="18" charset="0"/>
              </a:rPr>
              <a:t>Investors: </a:t>
            </a:r>
            <a:r>
              <a:rPr lang="en-US" dirty="0">
                <a:latin typeface="Times New Roman" panose="02020603050405020304" pitchFamily="18" charset="0"/>
                <a:cs typeface="Times New Roman" panose="02020603050405020304" pitchFamily="18" charset="0"/>
              </a:rPr>
              <a:t>Focus on high-growth regions.</a:t>
            </a:r>
          </a:p>
          <a:p>
            <a:r>
              <a:rPr lang="en-US" b="1" dirty="0">
                <a:latin typeface="Times New Roman" panose="02020603050405020304" pitchFamily="18" charset="0"/>
                <a:cs typeface="Times New Roman" panose="02020603050405020304" pitchFamily="18" charset="0"/>
              </a:rPr>
              <a:t>Government: </a:t>
            </a:r>
            <a:r>
              <a:rPr lang="en-US" dirty="0">
                <a:latin typeface="Times New Roman" panose="02020603050405020304" pitchFamily="18" charset="0"/>
                <a:cs typeface="Times New Roman" panose="02020603050405020304" pitchFamily="18" charset="0"/>
              </a:rPr>
              <a:t>Promote balanced regional development.</a:t>
            </a:r>
          </a:p>
          <a:p>
            <a:r>
              <a:rPr lang="en-US" b="1" dirty="0">
                <a:latin typeface="Times New Roman" panose="02020603050405020304" pitchFamily="18" charset="0"/>
                <a:cs typeface="Times New Roman" panose="02020603050405020304" pitchFamily="18" charset="0"/>
              </a:rPr>
              <a:t>Real Estate Agencies: </a:t>
            </a:r>
            <a:r>
              <a:rPr lang="en-US" dirty="0">
                <a:latin typeface="Times New Roman" panose="02020603050405020304" pitchFamily="18" charset="0"/>
                <a:cs typeface="Times New Roman" panose="02020603050405020304" pitchFamily="18" charset="0"/>
              </a:rPr>
              <a:t>Use market insights for pricing strategies.</a:t>
            </a:r>
          </a:p>
          <a:p>
            <a:r>
              <a:rPr lang="en-US" b="1" dirty="0">
                <a:latin typeface="Times New Roman" panose="02020603050405020304" pitchFamily="18" charset="0"/>
                <a:cs typeface="Times New Roman" panose="02020603050405020304" pitchFamily="18" charset="0"/>
              </a:rPr>
              <a:t>Future Researchers: </a:t>
            </a:r>
            <a:r>
              <a:rPr lang="en-US" dirty="0">
                <a:latin typeface="Times New Roman" panose="02020603050405020304" pitchFamily="18" charset="0"/>
                <a:cs typeface="Times New Roman" panose="02020603050405020304" pitchFamily="18" charset="0"/>
              </a:rPr>
              <a:t>Develop machine learning models for price prediction.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6686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55069-17C8-9C91-2F57-B1B1C742DC8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01ED2D77-1CD6-1CD3-F1D2-AAAAD64FE283}"/>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Rosen, S. (1974). Hedonic prices and implicit markets: Product differentiation in pure competition. </a:t>
            </a:r>
            <a:r>
              <a:rPr lang="en-US" i="1" dirty="0">
                <a:latin typeface="Times New Roman" panose="02020603050405020304" pitchFamily="18" charset="0"/>
                <a:cs typeface="Times New Roman" panose="02020603050405020304" pitchFamily="18" charset="0"/>
              </a:rPr>
              <a:t>Journal of Political Economy, 82</a:t>
            </a:r>
            <a:r>
              <a:rPr lang="en-US" dirty="0">
                <a:latin typeface="Times New Roman" panose="02020603050405020304" pitchFamily="18" charset="0"/>
                <a:cs typeface="Times New Roman" panose="02020603050405020304" pitchFamily="18" charset="0"/>
              </a:rPr>
              <a:t>(1), 34–55.</a:t>
            </a:r>
          </a:p>
          <a:p>
            <a:r>
              <a:rPr lang="en-US" dirty="0">
                <a:latin typeface="Times New Roman" panose="02020603050405020304" pitchFamily="18" charset="0"/>
                <a:cs typeface="Times New Roman" panose="02020603050405020304" pitchFamily="18" charset="0"/>
              </a:rPr>
              <a:t>Tukey, J. W. (1977). </a:t>
            </a:r>
            <a:r>
              <a:rPr lang="en-US" i="1" dirty="0">
                <a:latin typeface="Times New Roman" panose="02020603050405020304" pitchFamily="18" charset="0"/>
                <a:cs typeface="Times New Roman" panose="02020603050405020304" pitchFamily="18" charset="0"/>
              </a:rPr>
              <a:t>Exploratory Data Analysis</a:t>
            </a:r>
            <a:r>
              <a:rPr lang="en-US" dirty="0">
                <a:latin typeface="Times New Roman" panose="02020603050405020304" pitchFamily="18" charset="0"/>
                <a:cs typeface="Times New Roman" panose="02020603050405020304" pitchFamily="18" charset="0"/>
              </a:rPr>
              <a:t>. Addison-Wesley.</a:t>
            </a:r>
          </a:p>
          <a:p>
            <a:r>
              <a:rPr lang="en-US" dirty="0">
                <a:latin typeface="Times New Roman" panose="02020603050405020304" pitchFamily="18" charset="0"/>
                <a:cs typeface="Times New Roman" panose="02020603050405020304" pitchFamily="18" charset="0"/>
              </a:rPr>
              <a:t>James, G., Witten, D., Hastie, T., &amp; </a:t>
            </a:r>
            <a:r>
              <a:rPr lang="en-US" dirty="0" err="1">
                <a:latin typeface="Times New Roman" panose="02020603050405020304" pitchFamily="18" charset="0"/>
                <a:cs typeface="Times New Roman" panose="02020603050405020304" pitchFamily="18" charset="0"/>
              </a:rPr>
              <a:t>Tibshirani</a:t>
            </a:r>
            <a:r>
              <a:rPr lang="en-US" dirty="0">
                <a:latin typeface="Times New Roman" panose="02020603050405020304" pitchFamily="18" charset="0"/>
                <a:cs typeface="Times New Roman" panose="02020603050405020304" pitchFamily="18" charset="0"/>
              </a:rPr>
              <a:t>, R. (2021). </a:t>
            </a:r>
            <a:r>
              <a:rPr lang="en-US" i="1" dirty="0">
                <a:latin typeface="Times New Roman" panose="02020603050405020304" pitchFamily="18" charset="0"/>
                <a:cs typeface="Times New Roman" panose="02020603050405020304" pitchFamily="18" charset="0"/>
              </a:rPr>
              <a:t>An Introduction to Statistical Learning</a:t>
            </a:r>
            <a:r>
              <a:rPr lang="en-US" dirty="0">
                <a:latin typeface="Times New Roman" panose="02020603050405020304" pitchFamily="18" charset="0"/>
                <a:cs typeface="Times New Roman" panose="02020603050405020304" pitchFamily="18" charset="0"/>
              </a:rPr>
              <a:t> (2nd ed.). Springer.</a:t>
            </a:r>
          </a:p>
          <a:p>
            <a:r>
              <a:rPr lang="en-US" dirty="0">
                <a:latin typeface="Times New Roman" panose="02020603050405020304" pitchFamily="18" charset="0"/>
                <a:cs typeface="Times New Roman" panose="02020603050405020304" pitchFamily="18" charset="0"/>
              </a:rPr>
              <a:t>Han, J., Kamber, M., &amp; Pei, J. (2012). </a:t>
            </a:r>
            <a:r>
              <a:rPr lang="en-US" i="1" dirty="0">
                <a:latin typeface="Times New Roman" panose="02020603050405020304" pitchFamily="18" charset="0"/>
                <a:cs typeface="Times New Roman" panose="02020603050405020304" pitchFamily="18" charset="0"/>
              </a:rPr>
              <a:t>Data Mining: Concepts and Techniques</a:t>
            </a:r>
            <a:r>
              <a:rPr lang="en-US" dirty="0">
                <a:latin typeface="Times New Roman" panose="02020603050405020304" pitchFamily="18" charset="0"/>
                <a:cs typeface="Times New Roman" panose="02020603050405020304" pitchFamily="18" charset="0"/>
              </a:rPr>
              <a:t> (3rd ed.). Morgan Kaufmann.</a:t>
            </a:r>
          </a:p>
          <a:p>
            <a:r>
              <a:rPr lang="en-US" dirty="0">
                <a:latin typeface="Times New Roman" panose="02020603050405020304" pitchFamily="18" charset="0"/>
                <a:cs typeface="Times New Roman" panose="02020603050405020304" pitchFamily="18" charset="0"/>
              </a:rPr>
              <a:t>Hair, J. F., Black, W. C., Babin, B. J., &amp; Anderson, R. E. (2019). </a:t>
            </a:r>
            <a:r>
              <a:rPr lang="en-US" i="1" dirty="0">
                <a:latin typeface="Times New Roman" panose="02020603050405020304" pitchFamily="18" charset="0"/>
                <a:cs typeface="Times New Roman" panose="02020603050405020304" pitchFamily="18" charset="0"/>
              </a:rPr>
              <a:t>Multivariate Data Analysis</a:t>
            </a:r>
            <a:r>
              <a:rPr lang="en-US" dirty="0">
                <a:latin typeface="Times New Roman" panose="02020603050405020304" pitchFamily="18" charset="0"/>
                <a:cs typeface="Times New Roman" panose="02020603050405020304" pitchFamily="18" charset="0"/>
              </a:rPr>
              <a:t> (8th ed.). Cengage Learning.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12508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E528-42A0-2B13-602D-B311A1F00F7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Thank You!</a:t>
            </a:r>
          </a:p>
        </p:txBody>
      </p:sp>
      <p:sp>
        <p:nvSpPr>
          <p:cNvPr id="3" name="Content Placeholder 2">
            <a:extLst>
              <a:ext uri="{FF2B5EF4-FFF2-40B4-BE49-F238E27FC236}">
                <a16:creationId xmlns:a16="http://schemas.microsoft.com/office/drawing/2014/main" id="{0C41CCFB-55D9-489C-1E79-4592C7001574}"/>
              </a:ext>
            </a:extLst>
          </p:cNvPr>
          <p:cNvSpPr>
            <a:spLocks noGrp="1"/>
          </p:cNvSpPr>
          <p:nvPr>
            <p:ph idx="1"/>
          </p:nvPr>
        </p:nvSpPr>
        <p:spPr/>
        <p:txBody>
          <a:bodyPr/>
          <a:lstStyle/>
          <a:p>
            <a:pPr marL="0" indent="0" algn="ctr">
              <a:buNone/>
            </a:pPr>
            <a:endParaRPr lang="en-US" i="1" dirty="0"/>
          </a:p>
          <a:p>
            <a:pPr marL="0" indent="0" algn="ctr">
              <a:buNone/>
            </a:pPr>
            <a:endParaRPr lang="en-US" i="1" dirty="0"/>
          </a:p>
          <a:p>
            <a:pPr marL="0" indent="0" algn="ctr">
              <a:buNone/>
            </a:pPr>
            <a:r>
              <a:rPr lang="en-US" dirty="0">
                <a:latin typeface="Times New Roman" panose="02020603050405020304" pitchFamily="18" charset="0"/>
                <a:cs typeface="Times New Roman" panose="02020603050405020304" pitchFamily="18" charset="0"/>
              </a:rPr>
              <a:t>Thank you for your attention. </a:t>
            </a:r>
          </a:p>
          <a:p>
            <a:pPr marL="0" indent="0" algn="ctr">
              <a:buNone/>
            </a:pPr>
            <a:r>
              <a:rPr lang="en-US" dirty="0">
                <a:latin typeface="Times New Roman" panose="02020603050405020304" pitchFamily="18" charset="0"/>
                <a:cs typeface="Times New Roman" panose="02020603050405020304" pitchFamily="18" charset="0"/>
              </a:rPr>
              <a:t>I welcome your questions and observations.</a:t>
            </a:r>
          </a:p>
          <a:p>
            <a:pPr algn="ctr"/>
            <a:endParaRPr lang="en-US" dirty="0"/>
          </a:p>
        </p:txBody>
      </p:sp>
    </p:spTree>
    <p:extLst>
      <p:ext uri="{BB962C8B-B14F-4D97-AF65-F5344CB8AC3E}">
        <p14:creationId xmlns:p14="http://schemas.microsoft.com/office/powerpoint/2010/main" val="23715833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Custom 2">
      <a:dk1>
        <a:sysClr val="windowText" lastClr="000000"/>
      </a:dk1>
      <a:lt1>
        <a:sysClr val="window" lastClr="FFFFFF"/>
      </a:lt1>
      <a:dk2>
        <a:srgbClr val="505046"/>
      </a:dk2>
      <a:lt2>
        <a:srgbClr val="EEECE1"/>
      </a:lt2>
      <a:accent1>
        <a:srgbClr val="FFCABC"/>
      </a:accent1>
      <a:accent2>
        <a:srgbClr val="FFBD47"/>
      </a:accent2>
      <a:accent3>
        <a:srgbClr val="B64926"/>
      </a:accent3>
      <a:accent4>
        <a:srgbClr val="FF8427"/>
      </a:accent4>
      <a:accent5>
        <a:srgbClr val="BFBFBF"/>
      </a:accent5>
      <a:accent6>
        <a:srgbClr val="B22600"/>
      </a:accent6>
      <a:hlink>
        <a:srgbClr val="CC9900"/>
      </a:hlink>
      <a:folHlink>
        <a:srgbClr val="666699"/>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266</TotalTime>
  <Words>1596</Words>
  <Application>Microsoft Office PowerPoint</Application>
  <PresentationFormat>Widescreen</PresentationFormat>
  <Paragraphs>241</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Garamond</vt:lpstr>
      <vt:lpstr>Times New Roman</vt:lpstr>
      <vt:lpstr>Organic</vt:lpstr>
      <vt:lpstr>     EXPLORATORY DATA ANALYSIS OF THE DANISH HOUSING MARKET: A DATA-DRIVEN APPROACH TO PROPERTY PRICE DETERMINANTS </vt:lpstr>
      <vt:lpstr>Table of Contents</vt:lpstr>
      <vt:lpstr>Table of Contents</vt:lpstr>
      <vt:lpstr>ABSTRACT</vt:lpstr>
      <vt:lpstr>INTRODUCTION</vt:lpstr>
      <vt:lpstr>Aim</vt:lpstr>
      <vt:lpstr>Objectives</vt:lpstr>
      <vt:lpstr>Literature Review</vt:lpstr>
      <vt:lpstr>Dataset</vt:lpstr>
      <vt:lpstr>Dataset</vt:lpstr>
      <vt:lpstr>Tools Used</vt:lpstr>
      <vt:lpstr>Methodology</vt:lpstr>
      <vt:lpstr>What is the structure of the dataset?</vt:lpstr>
      <vt:lpstr>PowerPoint Presentation</vt:lpstr>
      <vt:lpstr>PowerPoint Presentation</vt:lpstr>
      <vt:lpstr>How were missing values handled and data types converted?</vt:lpstr>
      <vt:lpstr>PowerPoint Presentation</vt:lpstr>
      <vt:lpstr>Which outliers exist?</vt:lpstr>
      <vt:lpstr>PowerPoint Presentation</vt:lpstr>
      <vt:lpstr>How were outliers handled?</vt:lpstr>
      <vt:lpstr>PowerPoint Presentation</vt:lpstr>
      <vt:lpstr>Average and Median Housing Prices by Region</vt:lpstr>
      <vt:lpstr>Average and Median Housing Prices by Region</vt:lpstr>
      <vt:lpstr>Sales Activity Across Regions</vt:lpstr>
      <vt:lpstr>Sales Activity Across Regions</vt:lpstr>
      <vt:lpstr>Property Type Comparison</vt:lpstr>
      <vt:lpstr>Property Type Comparison</vt:lpstr>
      <vt:lpstr>PowerPoint Presentation</vt:lpstr>
      <vt:lpstr>Property Type Comparison Across Regions</vt:lpstr>
      <vt:lpstr>Capital Copenhagen vs Rest of Zealand and East and Mid of Jutland</vt:lpstr>
      <vt:lpstr>Capital Copenhagen vs Rest of Zealand and East and Mid of Jutland</vt:lpstr>
      <vt:lpstr>PowerPoint Presentation</vt:lpstr>
      <vt:lpstr>Capital Copenhagen vs Rest of Zealand and East and Mid of Jutland</vt:lpstr>
      <vt:lpstr>Quarter 3 vs Quarter 4 Analysis of Average Square Meter Price</vt:lpstr>
      <vt:lpstr>Quarter 3 vs Quarter 4 Analysis of Number of Sales</vt:lpstr>
      <vt:lpstr>Quarter 3 vs Quarter 4 Analysis</vt:lpstr>
      <vt:lpstr>Top 5% Most Expensive Properties</vt:lpstr>
      <vt:lpstr>Top 5% Most Expensive Properties</vt:lpstr>
      <vt:lpstr>Top 5% Most Expensive Properties</vt:lpstr>
      <vt:lpstr>Top 5% Most Expensive Properties</vt:lpstr>
      <vt:lpstr>Distribution of Housing Data</vt:lpstr>
      <vt:lpstr>Distribution of Housing Data</vt:lpstr>
      <vt:lpstr>Housing Price Trends Over Time</vt:lpstr>
      <vt:lpstr>Housing Price Trends Over Time</vt:lpstr>
      <vt:lpstr>Housing Price Trends Over Time</vt:lpstr>
      <vt:lpstr>Correlation Analysis</vt:lpstr>
      <vt:lpstr>Correlation Analysis</vt:lpstr>
      <vt:lpstr>Negotiation Outcomes</vt:lpstr>
      <vt:lpstr>Negotiation Outcomes</vt:lpstr>
      <vt:lpstr>Property Age and Construction Decade</vt:lpstr>
      <vt:lpstr>Property Age and Construction Decade</vt:lpstr>
      <vt:lpstr>Property Age and Construction Decade</vt:lpstr>
      <vt:lpstr>KEY FINDINGS</vt:lpstr>
      <vt:lpstr>LIMITATIONS</vt:lpstr>
      <vt:lpstr>CONCLUSION</vt:lpstr>
      <vt:lpstr>RECOMMENDATIONS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8</cp:revision>
  <dcterms:created xsi:type="dcterms:W3CDTF">2026-07-06T11:23:28Z</dcterms:created>
  <dcterms:modified xsi:type="dcterms:W3CDTF">2026-07-08T04:57:46Z</dcterms:modified>
</cp:coreProperties>
</file>