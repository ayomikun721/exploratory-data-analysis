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312" r:id="rId3"/>
    <p:sldId id="313" r:id="rId4"/>
    <p:sldId id="257" r:id="rId5"/>
    <p:sldId id="258" r:id="rId6"/>
    <p:sldId id="259" r:id="rId7"/>
    <p:sldId id="260" r:id="rId8"/>
    <p:sldId id="314"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80" r:id="rId28"/>
    <p:sldId id="281" r:id="rId29"/>
    <p:sldId id="279" r:id="rId30"/>
    <p:sldId id="282" r:id="rId31"/>
    <p:sldId id="287" r:id="rId32"/>
    <p:sldId id="288" r:id="rId33"/>
    <p:sldId id="283" r:id="rId34"/>
    <p:sldId id="284" r:id="rId35"/>
    <p:sldId id="285" r:id="rId36"/>
    <p:sldId id="286" r:id="rId37"/>
    <p:sldId id="289" r:id="rId38"/>
    <p:sldId id="290" r:id="rId39"/>
    <p:sldId id="291" r:id="rId40"/>
    <p:sldId id="292" r:id="rId41"/>
    <p:sldId id="293" r:id="rId42"/>
    <p:sldId id="294" r:id="rId43"/>
    <p:sldId id="295" r:id="rId44"/>
    <p:sldId id="296" r:id="rId45"/>
    <p:sldId id="297" r:id="rId46"/>
    <p:sldId id="315" r:id="rId47"/>
    <p:sldId id="301" r:id="rId48"/>
    <p:sldId id="298" r:id="rId49"/>
    <p:sldId id="299" r:id="rId50"/>
    <p:sldId id="300" r:id="rId51"/>
    <p:sldId id="302" r:id="rId52"/>
    <p:sldId id="303" r:id="rId53"/>
    <p:sldId id="304" r:id="rId54"/>
    <p:sldId id="305" r:id="rId55"/>
    <p:sldId id="307" r:id="rId56"/>
    <p:sldId id="308" r:id="rId57"/>
    <p:sldId id="306" r:id="rId58"/>
    <p:sldId id="311" r:id="rId59"/>
    <p:sldId id="310" r:id="rId6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640FE368-F3BE-4386-88EF-9D5C20D7925E}" type="slidenum">
              <a:rPr lang="en-US" smtClean="0"/>
              <a:t>‹#›</a:t>
            </a:fld>
            <a:endParaRPr lang="en-US"/>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1529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545198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8207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6D111B7-D0BA-4F94-AA57-BC0CCBE54C47}"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1682829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6D111B7-D0BA-4F94-AA57-BC0CCBE54C47}"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0FE368-F3BE-4386-88EF-9D5C20D7925E}" type="slidenum">
              <a:rPr lang="en-US" smtClean="0"/>
              <a:t>‹#›</a:t>
            </a:fld>
            <a:endParaRPr lang="en-US"/>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9489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6D111B7-D0BA-4F94-AA57-BC0CCBE54C47}"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0FE368-F3BE-4386-88EF-9D5C20D7925E}" type="slidenum">
              <a:rPr lang="en-US" smtClean="0"/>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79391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D111B7-D0BA-4F94-AA57-BC0CCBE54C47}"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3231605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6D111B7-D0BA-4F94-AA57-BC0CCBE54C47}"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1254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6D111B7-D0BA-4F94-AA57-BC0CCBE54C47}"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3547813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6D111B7-D0BA-4F94-AA57-BC0CCBE54C47}"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27193785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91337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377396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6502011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51769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030167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20548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D111B7-D0BA-4F94-AA57-BC0CCBE54C4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70680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lumMod val="40000"/>
            <a:lumOff val="60000"/>
          </a:schemeClr>
        </a:solidFill>
        <a:effectLst/>
      </p:bgPr>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6D111B7-D0BA-4F94-AA57-BC0CCBE54C47}" type="datetimeFigureOut">
              <a:rPr lang="en-US" smtClean="0"/>
              <a:t>7/13/2026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640FE368-F3BE-4386-88EF-9D5C20D7925E}" type="slidenum">
              <a:rPr lang="en-US" smtClean="0"/>
              <a:t>‹#›</a:t>
            </a:fld>
            <a:endParaRPr lang="en-US"/>
          </a:p>
        </p:txBody>
      </p:sp>
    </p:spTree>
    <p:extLst>
      <p:ext uri="{BB962C8B-B14F-4D97-AF65-F5344CB8AC3E}">
        <p14:creationId xmlns:p14="http://schemas.microsoft.com/office/powerpoint/2010/main" val="165508110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2C465-80C8-5527-E3FF-26BFD1AB9A47}"/>
              </a:ext>
            </a:extLst>
          </p:cNvPr>
          <p:cNvSpPr>
            <a:spLocks noGrp="1"/>
          </p:cNvSpPr>
          <p:nvPr>
            <p:ph type="ctrTitle"/>
          </p:nvPr>
        </p:nvSpPr>
        <p:spPr/>
        <p:txBody>
          <a:bodyPr/>
          <a:lstStyle/>
          <a:p>
            <a:r>
              <a:rPr lang="en-US" sz="2400" b="1" dirty="0">
                <a:latin typeface="Times New Roman" panose="02020603050405020304" pitchFamily="18" charset="0"/>
                <a:cs typeface="Times New Roman" panose="02020603050405020304" pitchFamily="18" charset="0"/>
              </a:rPr>
              <a:t>     EXPLORATORY DATA ANALYSIS OF THE DANISH HOUSING MARKET: A DATA-DRIVEN APPROACH TO PROPERTY PRICE DETERMINANTS</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p:txBody>
      </p:sp>
      <p:sp>
        <p:nvSpPr>
          <p:cNvPr id="4" name="Subtitle 3">
            <a:extLst>
              <a:ext uri="{FF2B5EF4-FFF2-40B4-BE49-F238E27FC236}">
                <a16:creationId xmlns:a16="http://schemas.microsoft.com/office/drawing/2014/main" id="{76ED8E20-182D-E1AB-F460-58565CCFFB64}"/>
              </a:ext>
            </a:extLst>
          </p:cNvPr>
          <p:cNvSpPr>
            <a:spLocks noGrp="1"/>
          </p:cNvSpPr>
          <p:nvPr>
            <p:ph type="subTitle" idx="1"/>
          </p:nvPr>
        </p:nvSpPr>
        <p:spPr/>
        <p:txBody>
          <a:bodyPr>
            <a:normAutofit lnSpcReduction="10000"/>
          </a:bodyPr>
          <a:lstStyle/>
          <a:p>
            <a:r>
              <a:rPr lang="en-US" dirty="0">
                <a:latin typeface="Times New Roman" panose="02020603050405020304" pitchFamily="18" charset="0"/>
                <a:cs typeface="Times New Roman" panose="02020603050405020304" pitchFamily="18" charset="0"/>
              </a:rPr>
              <a:t>AKINLADE AYOMIKUN DORCAS</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13</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JULY, 2026</a:t>
            </a:r>
          </a:p>
        </p:txBody>
      </p:sp>
    </p:spTree>
    <p:extLst>
      <p:ext uri="{BB962C8B-B14F-4D97-AF65-F5344CB8AC3E}">
        <p14:creationId xmlns:p14="http://schemas.microsoft.com/office/powerpoint/2010/main" val="3480135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BCE4E-634A-16C3-C68A-DBBC7245538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Table of Contents</a:t>
            </a:r>
          </a:p>
        </p:txBody>
      </p:sp>
      <p:sp>
        <p:nvSpPr>
          <p:cNvPr id="3" name="Content Placeholder 2">
            <a:extLst>
              <a:ext uri="{FF2B5EF4-FFF2-40B4-BE49-F238E27FC236}">
                <a16:creationId xmlns:a16="http://schemas.microsoft.com/office/drawing/2014/main" id="{E3176E9B-DEC5-44D0-B516-31D6291E04A4}"/>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Abstract</a:t>
            </a:r>
          </a:p>
          <a:p>
            <a:r>
              <a:rPr lang="en-US" dirty="0">
                <a:latin typeface="Times New Roman" panose="02020603050405020304" pitchFamily="18" charset="0"/>
                <a:cs typeface="Times New Roman" panose="02020603050405020304" pitchFamily="18" charset="0"/>
              </a:rPr>
              <a:t>Introduction</a:t>
            </a:r>
          </a:p>
          <a:p>
            <a:r>
              <a:rPr lang="en-US" dirty="0">
                <a:latin typeface="Times New Roman" panose="02020603050405020304" pitchFamily="18" charset="0"/>
                <a:cs typeface="Times New Roman" panose="02020603050405020304" pitchFamily="18" charset="0"/>
              </a:rPr>
              <a:t>Aim and Objectives</a:t>
            </a:r>
          </a:p>
          <a:p>
            <a:r>
              <a:rPr lang="en-US" dirty="0">
                <a:latin typeface="Times New Roman" panose="02020603050405020304" pitchFamily="18" charset="0"/>
                <a:cs typeface="Times New Roman" panose="02020603050405020304" pitchFamily="18" charset="0"/>
              </a:rPr>
              <a:t>Literature Review</a:t>
            </a:r>
          </a:p>
          <a:p>
            <a:r>
              <a:rPr lang="en-US" dirty="0">
                <a:latin typeface="Times New Roman" panose="02020603050405020304" pitchFamily="18" charset="0"/>
                <a:cs typeface="Times New Roman" panose="02020603050405020304" pitchFamily="18" charset="0"/>
              </a:rPr>
              <a:t>Methodology</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9863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07C9-B5DA-FFCA-3EAD-620ADC2B61BB}"/>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Table of Contents</a:t>
            </a:r>
            <a:endParaRPr lang="en-US" dirty="0"/>
          </a:p>
        </p:txBody>
      </p:sp>
      <p:sp>
        <p:nvSpPr>
          <p:cNvPr id="3" name="Content Placeholder 2">
            <a:extLst>
              <a:ext uri="{FF2B5EF4-FFF2-40B4-BE49-F238E27FC236}">
                <a16:creationId xmlns:a16="http://schemas.microsoft.com/office/drawing/2014/main" id="{8DDF16DB-3293-81BF-0DFD-32B3F32A63C1}"/>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Solution to Research Questions</a:t>
            </a:r>
          </a:p>
          <a:p>
            <a:r>
              <a:rPr lang="en-US" dirty="0">
                <a:latin typeface="Times New Roman" panose="02020603050405020304" pitchFamily="18" charset="0"/>
                <a:cs typeface="Times New Roman" panose="02020603050405020304" pitchFamily="18" charset="0"/>
              </a:rPr>
              <a:t>Key Findings</a:t>
            </a:r>
          </a:p>
          <a:p>
            <a:r>
              <a:rPr lang="en-US" dirty="0">
                <a:latin typeface="Times New Roman" panose="02020603050405020304" pitchFamily="18" charset="0"/>
                <a:cs typeface="Times New Roman" panose="02020603050405020304" pitchFamily="18" charset="0"/>
              </a:rPr>
              <a:t>Limitations</a:t>
            </a:r>
          </a:p>
          <a:p>
            <a:r>
              <a:rPr lang="en-US" dirty="0">
                <a:latin typeface="Times New Roman" panose="02020603050405020304" pitchFamily="18" charset="0"/>
                <a:cs typeface="Times New Roman" panose="02020603050405020304" pitchFamily="18" charset="0"/>
              </a:rPr>
              <a:t>Conclusion and recommendations</a:t>
            </a:r>
          </a:p>
          <a:p>
            <a:r>
              <a:rPr lang="en-US" dirty="0">
                <a:latin typeface="Times New Roman" panose="02020603050405020304" pitchFamily="18" charset="0"/>
                <a:cs typeface="Times New Roman" panose="02020603050405020304" pitchFamily="18" charset="0"/>
              </a:rPr>
              <a:t>References</a:t>
            </a:r>
          </a:p>
          <a:p>
            <a:endParaRPr lang="en-US" dirty="0"/>
          </a:p>
        </p:txBody>
      </p:sp>
    </p:spTree>
    <p:extLst>
      <p:ext uri="{BB962C8B-B14F-4D97-AF65-F5344CB8AC3E}">
        <p14:creationId xmlns:p14="http://schemas.microsoft.com/office/powerpoint/2010/main" val="20117235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5CBEB-5938-09F2-BC03-94731ABDB3C4}"/>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B0F10586-C0A8-73F2-85BE-E3B41147920A}"/>
              </a:ext>
            </a:extLst>
          </p:cNvPr>
          <p:cNvSpPr>
            <a:spLocks noGrp="1"/>
          </p:cNvSpPr>
          <p:nvPr>
            <p:ph idx="1"/>
          </p:nvPr>
        </p:nvSpPr>
        <p:spPr/>
        <p:txBody>
          <a:bodyPr>
            <a:noAutofit/>
          </a:bodyPr>
          <a:lstStyle/>
          <a:p>
            <a:r>
              <a:rPr lang="en-US" sz="1950" dirty="0">
                <a:latin typeface="Times New Roman" panose="02020603050405020304" pitchFamily="18" charset="0"/>
                <a:cs typeface="Times New Roman" panose="02020603050405020304" pitchFamily="18" charset="0"/>
              </a:rPr>
              <a:t>This study explores the Danish housing market using Exploratory Data Analysis (EDA) techniques in Python. </a:t>
            </a:r>
          </a:p>
          <a:p>
            <a:r>
              <a:rPr lang="en-US" sz="1950" dirty="0">
                <a:latin typeface="Times New Roman" panose="02020603050405020304" pitchFamily="18" charset="0"/>
                <a:cs typeface="Times New Roman" panose="02020603050405020304" pitchFamily="18" charset="0"/>
              </a:rPr>
              <a:t>The dataset was cleaned, transformed, and analyzed to identify patterns in housing prices across different regions, property types, property ages, and construction periods. </a:t>
            </a:r>
          </a:p>
          <a:p>
            <a:r>
              <a:rPr lang="en-US" sz="1950" dirty="0">
                <a:latin typeface="Times New Roman" panose="02020603050405020304" pitchFamily="18" charset="0"/>
                <a:cs typeface="Times New Roman" panose="02020603050405020304" pitchFamily="18" charset="0"/>
              </a:rPr>
              <a:t>Various statistical summaries and visualizations including bar charts, box plots, histograms, line plots, pie charts, and heatmaps were used to answer fifteen research questions. </a:t>
            </a:r>
          </a:p>
          <a:p>
            <a:r>
              <a:rPr lang="en-US" sz="1950" dirty="0">
                <a:latin typeface="Times New Roman" panose="02020603050405020304" pitchFamily="18" charset="0"/>
                <a:cs typeface="Times New Roman" panose="02020603050405020304" pitchFamily="18" charset="0"/>
              </a:rPr>
              <a:t>The findings show that housing prices are significantly influenced by location, property type, property size, age, and construction decade. </a:t>
            </a:r>
          </a:p>
          <a:p>
            <a:r>
              <a:rPr lang="en-US" sz="1950" dirty="0">
                <a:latin typeface="Times New Roman" panose="02020603050405020304" pitchFamily="18" charset="0"/>
                <a:cs typeface="Times New Roman" panose="02020603050405020304" pitchFamily="18" charset="0"/>
              </a:rPr>
              <a:t>The study demonstrates how data analytics can provide valuable insights for buyers, sellers, investors, and policymakers.</a:t>
            </a:r>
          </a:p>
        </p:txBody>
      </p:sp>
    </p:spTree>
    <p:extLst>
      <p:ext uri="{BB962C8B-B14F-4D97-AF65-F5344CB8AC3E}">
        <p14:creationId xmlns:p14="http://schemas.microsoft.com/office/powerpoint/2010/main" val="4074782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F7FC-7215-B8ED-A894-23C276392C2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A620E020-18CE-4F65-5106-6B0CA04787BB}"/>
              </a:ext>
            </a:extLst>
          </p:cNvPr>
          <p:cNvSpPr>
            <a:spLocks noGrp="1"/>
          </p:cNvSpPr>
          <p:nvPr>
            <p:ph idx="1"/>
          </p:nvPr>
        </p:nvSpPr>
        <p:spPr/>
        <p:txBody>
          <a:bodyPr>
            <a:normAutofit lnSpcReduction="10000"/>
          </a:bodyPr>
          <a:lstStyle/>
          <a:p>
            <a:r>
              <a:rPr lang="en-US" dirty="0">
                <a:latin typeface="Times New Roman" panose="02020603050405020304" pitchFamily="18" charset="0"/>
                <a:cs typeface="Times New Roman" panose="02020603050405020304" pitchFamily="18" charset="0"/>
              </a:rPr>
              <a:t>The housing market is an important sector of every economy. House prices are influenced by several factors such as location, property size, property type, age of the building, and market demand.</a:t>
            </a:r>
          </a:p>
          <a:p>
            <a:r>
              <a:rPr lang="en-US" dirty="0">
                <a:latin typeface="Times New Roman" panose="02020603050405020304" pitchFamily="18" charset="0"/>
                <a:cs typeface="Times New Roman" panose="02020603050405020304" pitchFamily="18" charset="0"/>
              </a:rPr>
              <a:t>Exploratory Data Analysis (EDA) provides an effective way of discovering hidden trends, relationships, and patterns within housing datasets before applying predictive models.</a:t>
            </a:r>
          </a:p>
          <a:p>
            <a:r>
              <a:rPr lang="en-US" dirty="0">
                <a:latin typeface="Times New Roman" panose="02020603050405020304" pitchFamily="18" charset="0"/>
                <a:cs typeface="Times New Roman" panose="02020603050405020304" pitchFamily="18" charset="0"/>
              </a:rPr>
              <a:t>This study focuses on analyzing the Danish housing market using Python and data visualization techniques.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02612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502A2-EAB4-E470-4226-ABAF2BC07B4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Aim of the Study</a:t>
            </a:r>
          </a:p>
        </p:txBody>
      </p:sp>
      <p:sp>
        <p:nvSpPr>
          <p:cNvPr id="3" name="Content Placeholder 2">
            <a:extLst>
              <a:ext uri="{FF2B5EF4-FFF2-40B4-BE49-F238E27FC236}">
                <a16:creationId xmlns:a16="http://schemas.microsoft.com/office/drawing/2014/main" id="{14037715-B604-E9DE-2B64-C6171C26CE93}"/>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The aim of the study is to perform an Exploratory Data Analysis of the Danish Housing Market.</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9474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B2917-7F53-B7B5-9F18-468D522CCD6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Objectives</a:t>
            </a:r>
          </a:p>
        </p:txBody>
      </p:sp>
      <p:sp>
        <p:nvSpPr>
          <p:cNvPr id="3" name="Content Placeholder 2">
            <a:extLst>
              <a:ext uri="{FF2B5EF4-FFF2-40B4-BE49-F238E27FC236}">
                <a16:creationId xmlns:a16="http://schemas.microsoft.com/office/drawing/2014/main" id="{6F7467F8-4604-56D7-247A-87488E2516AC}"/>
              </a:ext>
            </a:extLst>
          </p:cNvPr>
          <p:cNvSpPr>
            <a:spLocks noGrp="1"/>
          </p:cNvSpPr>
          <p:nvPr>
            <p:ph idx="1"/>
          </p:nvPr>
        </p:nvSpPr>
        <p:spPr/>
        <p:txBody>
          <a:bodyPr>
            <a:normAutofit lnSpcReduction="10000"/>
          </a:bodyPr>
          <a:lstStyle/>
          <a:p>
            <a:r>
              <a:rPr lang="en-US" dirty="0">
                <a:latin typeface="Times New Roman" panose="02020603050405020304" pitchFamily="18" charset="0"/>
                <a:cs typeface="Times New Roman" panose="02020603050405020304" pitchFamily="18" charset="0"/>
              </a:rPr>
              <a:t>To clean and prepare the dataset. </a:t>
            </a:r>
          </a:p>
          <a:p>
            <a:r>
              <a:rPr lang="en-US" dirty="0">
                <a:latin typeface="Times New Roman" panose="02020603050405020304" pitchFamily="18" charset="0"/>
                <a:cs typeface="Times New Roman" panose="02020603050405020304" pitchFamily="18" charset="0"/>
              </a:rPr>
              <a:t>To identify missing values and outliers. </a:t>
            </a:r>
          </a:p>
          <a:p>
            <a:r>
              <a:rPr lang="en-US" dirty="0">
                <a:latin typeface="Times New Roman" panose="02020603050405020304" pitchFamily="18" charset="0"/>
                <a:cs typeface="Times New Roman" panose="02020603050405020304" pitchFamily="18" charset="0"/>
              </a:rPr>
              <a:t>To analyze housing prices across regions. </a:t>
            </a:r>
          </a:p>
          <a:p>
            <a:r>
              <a:rPr lang="en-US" dirty="0">
                <a:latin typeface="Times New Roman" panose="02020603050405020304" pitchFamily="18" charset="0"/>
                <a:cs typeface="Times New Roman" panose="02020603050405020304" pitchFamily="18" charset="0"/>
              </a:rPr>
              <a:t>To compare different property types. </a:t>
            </a:r>
          </a:p>
          <a:p>
            <a:r>
              <a:rPr lang="en-US" dirty="0">
                <a:latin typeface="Times New Roman" panose="02020603050405020304" pitchFamily="18" charset="0"/>
                <a:cs typeface="Times New Roman" panose="02020603050405020304" pitchFamily="18" charset="0"/>
              </a:rPr>
              <a:t>To investigate negotiation outcomes. </a:t>
            </a:r>
          </a:p>
          <a:p>
            <a:r>
              <a:rPr lang="en-US" dirty="0">
                <a:latin typeface="Times New Roman" panose="02020603050405020304" pitchFamily="18" charset="0"/>
                <a:cs typeface="Times New Roman" panose="02020603050405020304" pitchFamily="18" charset="0"/>
              </a:rPr>
              <a:t>To study the effect of property age. </a:t>
            </a:r>
          </a:p>
          <a:p>
            <a:r>
              <a:rPr lang="en-US" dirty="0">
                <a:latin typeface="Times New Roman" panose="02020603050405020304" pitchFamily="18" charset="0"/>
                <a:cs typeface="Times New Roman" panose="02020603050405020304" pitchFamily="18" charset="0"/>
              </a:rPr>
              <a:t>To examine housing price trends using visualization techniques.</a:t>
            </a:r>
          </a:p>
        </p:txBody>
      </p:sp>
    </p:spTree>
    <p:extLst>
      <p:ext uri="{BB962C8B-B14F-4D97-AF65-F5344CB8AC3E}">
        <p14:creationId xmlns:p14="http://schemas.microsoft.com/office/powerpoint/2010/main" val="2330155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A4DC8-58A0-64FE-254D-082993A4908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Literature Review</a:t>
            </a:r>
          </a:p>
        </p:txBody>
      </p:sp>
      <p:sp>
        <p:nvSpPr>
          <p:cNvPr id="3" name="Content Placeholder 2">
            <a:extLst>
              <a:ext uri="{FF2B5EF4-FFF2-40B4-BE49-F238E27FC236}">
                <a16:creationId xmlns:a16="http://schemas.microsoft.com/office/drawing/2014/main" id="{D7172D6B-6C0D-50A7-9725-7327990414F9}"/>
              </a:ext>
            </a:extLst>
          </p:cNvPr>
          <p:cNvSpPr>
            <a:spLocks noGrp="1"/>
          </p:cNvSpPr>
          <p:nvPr>
            <p:ph idx="1"/>
          </p:nvPr>
        </p:nvSpPr>
        <p:spPr/>
        <p:txBody>
          <a:bodyPr>
            <a:normAutofit fontScale="92500" lnSpcReduction="10000"/>
          </a:bodyPr>
          <a:lstStyle/>
          <a:p>
            <a:r>
              <a:rPr lang="en-US" dirty="0">
                <a:latin typeface="Times New Roman" panose="02020603050405020304" pitchFamily="18" charset="0"/>
                <a:cs typeface="Times New Roman" panose="02020603050405020304" pitchFamily="18" charset="0"/>
              </a:rPr>
              <a:t>Housing markets have attracted extensive academic interest because of their importance to economic growth, wealth creation, and social welfare. </a:t>
            </a:r>
          </a:p>
          <a:p>
            <a:r>
              <a:rPr lang="en-US" dirty="0">
                <a:latin typeface="Times New Roman" panose="02020603050405020304" pitchFamily="18" charset="0"/>
                <a:cs typeface="Times New Roman" panose="02020603050405020304" pitchFamily="18" charset="0"/>
              </a:rPr>
              <a:t>According to Tukey, EDA allows analysts to "listen to the data" before drawing conclusions.</a:t>
            </a:r>
          </a:p>
          <a:p>
            <a:r>
              <a:rPr lang="en-US" dirty="0">
                <a:latin typeface="Times New Roman" panose="02020603050405020304" pitchFamily="18" charset="0"/>
                <a:cs typeface="Times New Roman" panose="02020603050405020304" pitchFamily="18" charset="0"/>
              </a:rPr>
              <a:t>Research by Rosen (1974) introduced the Hedonic Pricing Model, explaining that house prices are determined by bundles of characteristics rather than individual features.</a:t>
            </a:r>
          </a:p>
          <a:p>
            <a:r>
              <a:rPr lang="en-US" dirty="0">
                <a:latin typeface="Times New Roman" panose="02020603050405020304" pitchFamily="18" charset="0"/>
                <a:cs typeface="Times New Roman" panose="02020603050405020304" pitchFamily="18" charset="0"/>
              </a:rPr>
              <a:t>Relatively fewer studies focus exclusively on comprehensive exploratory analysis.</a:t>
            </a:r>
          </a:p>
        </p:txBody>
      </p:sp>
    </p:spTree>
    <p:extLst>
      <p:ext uri="{BB962C8B-B14F-4D97-AF65-F5344CB8AC3E}">
        <p14:creationId xmlns:p14="http://schemas.microsoft.com/office/powerpoint/2010/main" val="30134774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C1F9D-4BE7-3EEB-AF60-70E0A6FA284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Dataset</a:t>
            </a:r>
          </a:p>
        </p:txBody>
      </p:sp>
      <p:sp>
        <p:nvSpPr>
          <p:cNvPr id="3" name="Content Placeholder 2">
            <a:extLst>
              <a:ext uri="{FF2B5EF4-FFF2-40B4-BE49-F238E27FC236}">
                <a16:creationId xmlns:a16="http://schemas.microsoft.com/office/drawing/2014/main" id="{07313A65-F4C8-A61A-602E-43997A5BC6AA}"/>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Danish Housing Dataset </a:t>
            </a:r>
          </a:p>
          <a:p>
            <a:r>
              <a:rPr lang="en-US" dirty="0">
                <a:latin typeface="Times New Roman" panose="02020603050405020304" pitchFamily="18" charset="0"/>
                <a:cs typeface="Times New Roman" panose="02020603050405020304" pitchFamily="18" charset="0"/>
              </a:rPr>
              <a:t>Multiple regions </a:t>
            </a:r>
          </a:p>
          <a:p>
            <a:r>
              <a:rPr lang="en-US" dirty="0">
                <a:latin typeface="Times New Roman" panose="02020603050405020304" pitchFamily="18" charset="0"/>
                <a:cs typeface="Times New Roman" panose="02020603050405020304" pitchFamily="18" charset="0"/>
              </a:rPr>
              <a:t>Various property types </a:t>
            </a:r>
          </a:p>
          <a:p>
            <a:r>
              <a:rPr lang="en-US" dirty="0">
                <a:latin typeface="Times New Roman" panose="02020603050405020304" pitchFamily="18" charset="0"/>
                <a:cs typeface="Times New Roman" panose="02020603050405020304" pitchFamily="18" charset="0"/>
              </a:rPr>
              <a:t>Purchase prices </a:t>
            </a:r>
          </a:p>
          <a:p>
            <a:r>
              <a:rPr lang="en-US" dirty="0">
                <a:latin typeface="Times New Roman" panose="02020603050405020304" pitchFamily="18" charset="0"/>
                <a:cs typeface="Times New Roman" panose="02020603050405020304" pitchFamily="18" charset="0"/>
              </a:rPr>
              <a:t>Offer prices Size (sqm) </a:t>
            </a:r>
          </a:p>
          <a:p>
            <a:r>
              <a:rPr lang="en-US" dirty="0">
                <a:latin typeface="Times New Roman" panose="02020603050405020304" pitchFamily="18" charset="0"/>
                <a:cs typeface="Times New Roman" panose="02020603050405020304" pitchFamily="18" charset="0"/>
              </a:rPr>
              <a:t>Construction year</a:t>
            </a:r>
          </a:p>
        </p:txBody>
      </p:sp>
    </p:spTree>
    <p:extLst>
      <p:ext uri="{BB962C8B-B14F-4D97-AF65-F5344CB8AC3E}">
        <p14:creationId xmlns:p14="http://schemas.microsoft.com/office/powerpoint/2010/main" val="3036954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3A5F1-E263-CD97-29A2-94365AC3CC5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Dataset</a:t>
            </a:r>
          </a:p>
        </p:txBody>
      </p:sp>
      <p:pic>
        <p:nvPicPr>
          <p:cNvPr id="5" name="Content Placeholder 4">
            <a:extLst>
              <a:ext uri="{FF2B5EF4-FFF2-40B4-BE49-F238E27FC236}">
                <a16:creationId xmlns:a16="http://schemas.microsoft.com/office/drawing/2014/main" id="{71FCE656-2D79-2ECE-D162-E1CA1B914E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32751" y="2557463"/>
            <a:ext cx="9326498" cy="3317875"/>
          </a:xfrm>
          <a:prstGeom prst="rect">
            <a:avLst/>
          </a:prstGeom>
        </p:spPr>
      </p:pic>
    </p:spTree>
    <p:extLst>
      <p:ext uri="{BB962C8B-B14F-4D97-AF65-F5344CB8AC3E}">
        <p14:creationId xmlns:p14="http://schemas.microsoft.com/office/powerpoint/2010/main" val="15035413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80367-10E7-E58E-18AC-3BFAE43797FA}"/>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Tools Used</a:t>
            </a:r>
          </a:p>
        </p:txBody>
      </p:sp>
      <p:sp>
        <p:nvSpPr>
          <p:cNvPr id="3" name="Content Placeholder 2">
            <a:extLst>
              <a:ext uri="{FF2B5EF4-FFF2-40B4-BE49-F238E27FC236}">
                <a16:creationId xmlns:a16="http://schemas.microsoft.com/office/drawing/2014/main" id="{405947B7-28ED-0D57-907A-F1146D8C6660}"/>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Python </a:t>
            </a:r>
          </a:p>
          <a:p>
            <a:r>
              <a:rPr lang="en-US" dirty="0">
                <a:latin typeface="Times New Roman" panose="02020603050405020304" pitchFamily="18" charset="0"/>
                <a:cs typeface="Times New Roman" panose="02020603050405020304" pitchFamily="18" charset="0"/>
              </a:rPr>
              <a:t>Pandas </a:t>
            </a:r>
          </a:p>
          <a:p>
            <a:r>
              <a:rPr lang="en-US" dirty="0">
                <a:latin typeface="Times New Roman" panose="02020603050405020304" pitchFamily="18" charset="0"/>
                <a:cs typeface="Times New Roman" panose="02020603050405020304" pitchFamily="18" charset="0"/>
              </a:rPr>
              <a:t>NumPy </a:t>
            </a:r>
          </a:p>
          <a:p>
            <a:r>
              <a:rPr lang="en-US" dirty="0">
                <a:latin typeface="Times New Roman" panose="02020603050405020304" pitchFamily="18" charset="0"/>
                <a:cs typeface="Times New Roman" panose="02020603050405020304" pitchFamily="18" charset="0"/>
              </a:rPr>
              <a:t>Matplotlib </a:t>
            </a:r>
          </a:p>
          <a:p>
            <a:r>
              <a:rPr lang="en-US" dirty="0">
                <a:latin typeface="Times New Roman" panose="02020603050405020304" pitchFamily="18" charset="0"/>
                <a:cs typeface="Times New Roman" panose="02020603050405020304" pitchFamily="18" charset="0"/>
              </a:rPr>
              <a:t>Seaborn </a:t>
            </a:r>
          </a:p>
          <a:p>
            <a:r>
              <a:rPr lang="en-US" dirty="0">
                <a:latin typeface="Times New Roman" panose="02020603050405020304" pitchFamily="18" charset="0"/>
                <a:cs typeface="Times New Roman" panose="02020603050405020304" pitchFamily="18" charset="0"/>
              </a:rPr>
              <a:t>Jupyter Notebook</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6516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2C1EB-940C-65EF-5E77-23FE615D3310}"/>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Methodology</a:t>
            </a:r>
          </a:p>
        </p:txBody>
      </p:sp>
      <p:sp>
        <p:nvSpPr>
          <p:cNvPr id="3" name="Content Placeholder 2">
            <a:extLst>
              <a:ext uri="{FF2B5EF4-FFF2-40B4-BE49-F238E27FC236}">
                <a16:creationId xmlns:a16="http://schemas.microsoft.com/office/drawing/2014/main" id="{09954CD0-D925-5001-056C-B9F60FFD3677}"/>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Data Collection</a:t>
            </a:r>
          </a:p>
          <a:p>
            <a:r>
              <a:rPr lang="en-US" dirty="0">
                <a:latin typeface="Times New Roman" panose="02020603050405020304" pitchFamily="18" charset="0"/>
                <a:cs typeface="Times New Roman" panose="02020603050405020304" pitchFamily="18" charset="0"/>
              </a:rPr>
              <a:t>Data Cleaning</a:t>
            </a:r>
          </a:p>
          <a:p>
            <a:r>
              <a:rPr lang="en-US" dirty="0">
                <a:latin typeface="Times New Roman" panose="02020603050405020304" pitchFamily="18" charset="0"/>
                <a:cs typeface="Times New Roman" panose="02020603050405020304" pitchFamily="18" charset="0"/>
              </a:rPr>
              <a:t>Feature Engineering</a:t>
            </a:r>
          </a:p>
          <a:p>
            <a:r>
              <a:rPr lang="en-US" dirty="0">
                <a:latin typeface="Times New Roman" panose="02020603050405020304" pitchFamily="18" charset="0"/>
                <a:cs typeface="Times New Roman" panose="02020603050405020304" pitchFamily="18" charset="0"/>
              </a:rPr>
              <a:t>Exploratory Data Analysis</a:t>
            </a:r>
          </a:p>
          <a:p>
            <a:r>
              <a:rPr lang="en-US" dirty="0">
                <a:latin typeface="Times New Roman" panose="02020603050405020304" pitchFamily="18" charset="0"/>
                <a:cs typeface="Times New Roman" panose="02020603050405020304" pitchFamily="18" charset="0"/>
              </a:rPr>
              <a:t>Visualization</a:t>
            </a:r>
          </a:p>
          <a:p>
            <a:r>
              <a:rPr lang="en-US" dirty="0">
                <a:latin typeface="Times New Roman" panose="02020603050405020304" pitchFamily="18" charset="0"/>
                <a:cs typeface="Times New Roman" panose="02020603050405020304" pitchFamily="18" charset="0"/>
              </a:rPr>
              <a:t>Interpretation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5231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B265B-0562-CE4B-B19B-8479CD0B2F1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What is the structure of the dataset?</a:t>
            </a:r>
          </a:p>
        </p:txBody>
      </p:sp>
      <p:sp>
        <p:nvSpPr>
          <p:cNvPr id="3" name="Content Placeholder 2">
            <a:extLst>
              <a:ext uri="{FF2B5EF4-FFF2-40B4-BE49-F238E27FC236}">
                <a16:creationId xmlns:a16="http://schemas.microsoft.com/office/drawing/2014/main" id="{366C7335-57DB-58C6-E45F-515A77A6C4C5}"/>
              </a:ext>
            </a:extLst>
          </p:cNvPr>
          <p:cNvSpPr>
            <a:spLocks noGrp="1"/>
          </p:cNvSpPr>
          <p:nvPr>
            <p:ph idx="1"/>
          </p:nvPr>
        </p:nvSpPr>
        <p:spPr/>
        <p:txBody>
          <a:bodyPr>
            <a:normAutofit fontScale="70000" lnSpcReduction="20000"/>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The dataset structure was examined using .shape, .info(), and .</a:t>
            </a:r>
            <a:r>
              <a:rPr lang="en-US" dirty="0" err="1">
                <a:latin typeface="Times New Roman" panose="02020603050405020304" pitchFamily="18" charset="0"/>
                <a:cs typeface="Times New Roman" panose="02020603050405020304" pitchFamily="18" charset="0"/>
              </a:rPr>
              <a:t>isnull</a:t>
            </a:r>
            <a:r>
              <a:rPr lang="en-US" dirty="0">
                <a:latin typeface="Times New Roman" panose="02020603050405020304" pitchFamily="18" charset="0"/>
                <a:cs typeface="Times New Roman" panose="02020603050405020304" pitchFamily="18" charset="0"/>
              </a:rPr>
              <a:t>().sum() to determine the number of rows, columns, data types, and missing values.</a:t>
            </a:r>
          </a:p>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Dataset contains both numerical and categorical variables. </a:t>
            </a:r>
          </a:p>
          <a:p>
            <a:r>
              <a:rPr lang="en-US" dirty="0">
                <a:latin typeface="Times New Roman" panose="02020603050405020304" pitchFamily="18" charset="0"/>
                <a:cs typeface="Times New Roman" panose="02020603050405020304" pitchFamily="18" charset="0"/>
              </a:rPr>
              <a:t>Numerical variables include purchase price, offer price, and property size. </a:t>
            </a:r>
          </a:p>
          <a:p>
            <a:r>
              <a:rPr lang="en-US" dirty="0">
                <a:latin typeface="Times New Roman" panose="02020603050405020304" pitchFamily="18" charset="0"/>
                <a:cs typeface="Times New Roman" panose="02020603050405020304" pitchFamily="18" charset="0"/>
              </a:rPr>
              <a:t>Categorical variables include region and property type. </a:t>
            </a:r>
          </a:p>
          <a:p>
            <a:r>
              <a:rPr lang="en-US" dirty="0">
                <a:latin typeface="Times New Roman" panose="02020603050405020304" pitchFamily="18" charset="0"/>
                <a:cs typeface="Times New Roman" panose="02020603050405020304" pitchFamily="18" charset="0"/>
              </a:rPr>
              <a:t>Missing values were identified before analysis.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The dataset was well structured and suitable for exploratory analysis after identifying missing values.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31937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Content Placeholder 14">
            <a:extLst>
              <a:ext uri="{FF2B5EF4-FFF2-40B4-BE49-F238E27FC236}">
                <a16:creationId xmlns:a16="http://schemas.microsoft.com/office/drawing/2014/main" id="{EEF93C21-C2B8-D98D-9D39-D381C6F95E7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82489" y="927703"/>
            <a:ext cx="8991598" cy="5015367"/>
          </a:xfrm>
          <a:prstGeom prst="rect">
            <a:avLst/>
          </a:prstGeom>
        </p:spPr>
      </p:pic>
    </p:spTree>
    <p:extLst>
      <p:ext uri="{BB962C8B-B14F-4D97-AF65-F5344CB8AC3E}">
        <p14:creationId xmlns:p14="http://schemas.microsoft.com/office/powerpoint/2010/main" val="36646798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83E31A3-C072-BA05-9B58-EAB573E9F23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17171" y="642257"/>
            <a:ext cx="9579429" cy="5233081"/>
          </a:xfrm>
          <a:prstGeom prst="rect">
            <a:avLst/>
          </a:prstGeom>
        </p:spPr>
      </p:pic>
    </p:spTree>
    <p:extLst>
      <p:ext uri="{BB962C8B-B14F-4D97-AF65-F5344CB8AC3E}">
        <p14:creationId xmlns:p14="http://schemas.microsoft.com/office/powerpoint/2010/main" val="38575188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092C4-DABD-B34B-64B3-E04BC7E3EE2F}"/>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How were missing values handled and data types converted?</a:t>
            </a:r>
          </a:p>
        </p:txBody>
      </p:sp>
      <p:sp>
        <p:nvSpPr>
          <p:cNvPr id="3" name="Content Placeholder 2">
            <a:extLst>
              <a:ext uri="{FF2B5EF4-FFF2-40B4-BE49-F238E27FC236}">
                <a16:creationId xmlns:a16="http://schemas.microsoft.com/office/drawing/2014/main" id="{BA19B19F-9608-C281-FC40-CD52E727C401}"/>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Numerical missing values were replaced using median values. </a:t>
            </a:r>
          </a:p>
          <a:p>
            <a:r>
              <a:rPr lang="en-US" dirty="0">
                <a:latin typeface="Times New Roman" panose="02020603050405020304" pitchFamily="18" charset="0"/>
                <a:cs typeface="Times New Roman" panose="02020603050405020304" pitchFamily="18" charset="0"/>
              </a:rPr>
              <a:t>Categorical missing values were filled using the mode. </a:t>
            </a:r>
          </a:p>
          <a:p>
            <a:r>
              <a:rPr lang="en-US" dirty="0">
                <a:latin typeface="Times New Roman" panose="02020603050405020304" pitchFamily="18" charset="0"/>
                <a:cs typeface="Times New Roman" panose="02020603050405020304" pitchFamily="18" charset="0"/>
              </a:rPr>
              <a:t>Date columns were converted into appropriate datetime format.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The cleaned dataset became suitable for reliable statistical analysis.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60478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85A93F2-CBDF-C21D-2541-90A546131C8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70856" y="1068328"/>
            <a:ext cx="10278441" cy="4494272"/>
          </a:xfrm>
          <a:prstGeom prst="rect">
            <a:avLst/>
          </a:prstGeom>
        </p:spPr>
      </p:pic>
    </p:spTree>
    <p:extLst>
      <p:ext uri="{BB962C8B-B14F-4D97-AF65-F5344CB8AC3E}">
        <p14:creationId xmlns:p14="http://schemas.microsoft.com/office/powerpoint/2010/main" val="10977815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682EB-7907-4F59-53E3-E76F0873622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Which outliers exist?</a:t>
            </a:r>
          </a:p>
        </p:txBody>
      </p:sp>
      <p:sp>
        <p:nvSpPr>
          <p:cNvPr id="3" name="Content Placeholder 2">
            <a:extLst>
              <a:ext uri="{FF2B5EF4-FFF2-40B4-BE49-F238E27FC236}">
                <a16:creationId xmlns:a16="http://schemas.microsoft.com/office/drawing/2014/main" id="{6E0136FC-94ED-B5D8-B93F-69DA4188817B}"/>
              </a:ext>
            </a:extLst>
          </p:cNvPr>
          <p:cNvSpPr>
            <a:spLocks noGrp="1"/>
          </p:cNvSpPr>
          <p:nvPr>
            <p:ph idx="1"/>
          </p:nvPr>
        </p:nvSpPr>
        <p:spPr/>
        <p:txBody>
          <a:bodyPr>
            <a:normAutofit fontScale="70000" lnSpcReduction="20000"/>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The IQR method was applied to:</a:t>
            </a:r>
          </a:p>
          <a:p>
            <a:r>
              <a:rPr lang="en-US" dirty="0">
                <a:latin typeface="Times New Roman" panose="02020603050405020304" pitchFamily="18" charset="0"/>
                <a:cs typeface="Times New Roman" panose="02020603050405020304" pitchFamily="18" charset="0"/>
              </a:rPr>
              <a:t>Purchase Price </a:t>
            </a:r>
          </a:p>
          <a:p>
            <a:r>
              <a:rPr lang="en-US" dirty="0">
                <a:latin typeface="Times New Roman" panose="02020603050405020304" pitchFamily="18" charset="0"/>
                <a:cs typeface="Times New Roman" panose="02020603050405020304" pitchFamily="18" charset="0"/>
              </a:rPr>
              <a:t>Property Size </a:t>
            </a:r>
          </a:p>
          <a:p>
            <a:r>
              <a:rPr lang="en-US" dirty="0">
                <a:latin typeface="Times New Roman" panose="02020603050405020304" pitchFamily="18" charset="0"/>
                <a:cs typeface="Times New Roman" panose="02020603050405020304" pitchFamily="18" charset="0"/>
              </a:rPr>
              <a:t>Price per Square Meter </a:t>
            </a:r>
          </a:p>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Several extreme values were detected, especially among luxury homes.</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Outliers mainly represented expensive properties rather than data errors.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12904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C65F633-5FCC-84D4-ABB5-7F47CD1CC7B2}"/>
              </a:ext>
            </a:extLst>
          </p:cNvPr>
          <p:cNvPicPr>
            <a:picLocks noGrp="1" noChangeAspect="1"/>
          </p:cNvPicPr>
          <p:nvPr>
            <p:ph idx="1"/>
          </p:nvPr>
        </p:nvPicPr>
        <p:blipFill>
          <a:blip r:embed="rId2"/>
          <a:stretch>
            <a:fillRect/>
          </a:stretch>
        </p:blipFill>
        <p:spPr>
          <a:xfrm>
            <a:off x="2982685" y="828761"/>
            <a:ext cx="6226629" cy="5360393"/>
          </a:xfrm>
          <a:prstGeom prst="rect">
            <a:avLst/>
          </a:prstGeom>
        </p:spPr>
      </p:pic>
    </p:spTree>
    <p:extLst>
      <p:ext uri="{BB962C8B-B14F-4D97-AF65-F5344CB8AC3E}">
        <p14:creationId xmlns:p14="http://schemas.microsoft.com/office/powerpoint/2010/main" val="1846131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B0A81-BE20-5761-153C-2F75C23F3C5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How were outliers handled?</a:t>
            </a:r>
          </a:p>
        </p:txBody>
      </p:sp>
      <p:sp>
        <p:nvSpPr>
          <p:cNvPr id="3" name="Content Placeholder 2">
            <a:extLst>
              <a:ext uri="{FF2B5EF4-FFF2-40B4-BE49-F238E27FC236}">
                <a16:creationId xmlns:a16="http://schemas.microsoft.com/office/drawing/2014/main" id="{9CC045DC-08B1-6078-C35A-1BCE283F7208}"/>
              </a:ext>
            </a:extLst>
          </p:cNvPr>
          <p:cNvSpPr>
            <a:spLocks noGrp="1"/>
          </p:cNvSpPr>
          <p:nvPr>
            <p:ph idx="1"/>
          </p:nvPr>
        </p:nvSpPr>
        <p:spPr/>
        <p:txBody>
          <a:bodyPr>
            <a:normAutofit fontScale="85000" lnSpcReduction="20000"/>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Outliers were investigated before deciding whether to remove or retain them.</a:t>
            </a:r>
          </a:p>
          <a:p>
            <a:r>
              <a:rPr lang="en-US" b="1" dirty="0">
                <a:latin typeface="Times New Roman" panose="02020603050405020304" pitchFamily="18" charset="0"/>
                <a:cs typeface="Times New Roman" panose="02020603050405020304" pitchFamily="18" charset="0"/>
              </a:rPr>
              <a:t>Findings (Capping was Used)</a:t>
            </a:r>
          </a:p>
          <a:p>
            <a:r>
              <a:rPr lang="en-US" dirty="0">
                <a:latin typeface="Times New Roman" panose="02020603050405020304" pitchFamily="18" charset="0"/>
                <a:cs typeface="Times New Roman" panose="02020603050405020304" pitchFamily="18" charset="0"/>
              </a:rPr>
              <a:t>Genuine luxury properties were retained. </a:t>
            </a:r>
          </a:p>
          <a:p>
            <a:r>
              <a:rPr lang="en-US" dirty="0">
                <a:latin typeface="Times New Roman" panose="02020603050405020304" pitchFamily="18" charset="0"/>
                <a:cs typeface="Times New Roman" panose="02020603050405020304" pitchFamily="18" charset="0"/>
              </a:rPr>
              <a:t>Obvious errors would be removed. </a:t>
            </a:r>
          </a:p>
          <a:p>
            <a:r>
              <a:rPr lang="en-US" dirty="0">
                <a:latin typeface="Times New Roman" panose="02020603050405020304" pitchFamily="18" charset="0"/>
                <a:cs typeface="Times New Roman" panose="02020603050405020304" pitchFamily="18" charset="0"/>
              </a:rPr>
              <a:t>Extreme observations were considered part of the housing market.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Retaining valid outliers preserved important market information. Hence, capping is used.</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8578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AC98411-CEF5-7E3A-BFA1-EE3A8C82AF52}"/>
              </a:ext>
            </a:extLst>
          </p:cNvPr>
          <p:cNvPicPr>
            <a:picLocks noGrp="1" noChangeAspect="1"/>
          </p:cNvPicPr>
          <p:nvPr>
            <p:ph idx="1"/>
          </p:nvPr>
        </p:nvPicPr>
        <p:blipFill>
          <a:blip r:embed="rId2"/>
          <a:stretch>
            <a:fillRect/>
          </a:stretch>
        </p:blipFill>
        <p:spPr>
          <a:xfrm>
            <a:off x="3200401" y="906420"/>
            <a:ext cx="5617028" cy="5045160"/>
          </a:xfrm>
          <a:prstGeom prst="rect">
            <a:avLst/>
          </a:prstGeom>
        </p:spPr>
      </p:pic>
    </p:spTree>
    <p:extLst>
      <p:ext uri="{BB962C8B-B14F-4D97-AF65-F5344CB8AC3E}">
        <p14:creationId xmlns:p14="http://schemas.microsoft.com/office/powerpoint/2010/main" val="7191889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44F5F-2CC6-32BE-6AE8-8EE20153F0BE}"/>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Average and Median Housing Prices by Region</a:t>
            </a:r>
          </a:p>
        </p:txBody>
      </p:sp>
      <p:pic>
        <p:nvPicPr>
          <p:cNvPr id="5" name="Content Placeholder 4">
            <a:extLst>
              <a:ext uri="{FF2B5EF4-FFF2-40B4-BE49-F238E27FC236}">
                <a16:creationId xmlns:a16="http://schemas.microsoft.com/office/drawing/2014/main" id="{777EFCC2-35CC-43BF-804B-0FCD1F26728A}"/>
              </a:ext>
            </a:extLst>
          </p:cNvPr>
          <p:cNvPicPr>
            <a:picLocks noGrp="1" noChangeAspect="1"/>
          </p:cNvPicPr>
          <p:nvPr>
            <p:ph idx="1"/>
          </p:nvPr>
        </p:nvPicPr>
        <p:blipFill>
          <a:blip r:embed="rId2"/>
          <a:stretch>
            <a:fillRect/>
          </a:stretch>
        </p:blipFill>
        <p:spPr>
          <a:xfrm>
            <a:off x="1346631" y="2362200"/>
            <a:ext cx="10223115" cy="3217957"/>
          </a:xfrm>
          <a:prstGeom prst="rect">
            <a:avLst/>
          </a:prstGeom>
        </p:spPr>
      </p:pic>
    </p:spTree>
    <p:extLst>
      <p:ext uri="{BB962C8B-B14F-4D97-AF65-F5344CB8AC3E}">
        <p14:creationId xmlns:p14="http://schemas.microsoft.com/office/powerpoint/2010/main" val="2248894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34D79-7605-B69D-EC97-1AA297A15B06}"/>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Average and Median Housing Prices by Region</a:t>
            </a:r>
            <a:endParaRPr lang="en-US" dirty="0"/>
          </a:p>
        </p:txBody>
      </p:sp>
      <p:sp>
        <p:nvSpPr>
          <p:cNvPr id="3" name="Content Placeholder 2">
            <a:extLst>
              <a:ext uri="{FF2B5EF4-FFF2-40B4-BE49-F238E27FC236}">
                <a16:creationId xmlns:a16="http://schemas.microsoft.com/office/drawing/2014/main" id="{73B177F1-6D07-3C93-D664-C5EBE348B228}"/>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Housing prices differ significantly across regions. </a:t>
            </a:r>
          </a:p>
          <a:p>
            <a:r>
              <a:rPr lang="en-US" dirty="0">
                <a:latin typeface="Times New Roman" panose="02020603050405020304" pitchFamily="18" charset="0"/>
                <a:cs typeface="Times New Roman" panose="02020603050405020304" pitchFamily="18" charset="0"/>
              </a:rPr>
              <a:t>Zealand has the highest average prices and hence, the most expensive. </a:t>
            </a:r>
          </a:p>
          <a:p>
            <a:r>
              <a:rPr lang="en-US" dirty="0">
                <a:latin typeface="Times New Roman" panose="02020603050405020304" pitchFamily="18" charset="0"/>
                <a:cs typeface="Times New Roman" panose="02020603050405020304" pitchFamily="18" charset="0"/>
              </a:rPr>
              <a:t>Bornholm is the most affordable.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Region is one of the strongest determinants of housing prices.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5025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15A4B-33B0-C560-83E4-FA3114E8319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Sales Activity Across Regions</a:t>
            </a:r>
          </a:p>
        </p:txBody>
      </p:sp>
      <p:pic>
        <p:nvPicPr>
          <p:cNvPr id="5" name="Content Placeholder 4">
            <a:extLst>
              <a:ext uri="{FF2B5EF4-FFF2-40B4-BE49-F238E27FC236}">
                <a16:creationId xmlns:a16="http://schemas.microsoft.com/office/drawing/2014/main" id="{FCADBF65-2B8F-7B51-8893-C51B87DF9DF6}"/>
              </a:ext>
            </a:extLst>
          </p:cNvPr>
          <p:cNvPicPr>
            <a:picLocks noGrp="1" noChangeAspect="1"/>
          </p:cNvPicPr>
          <p:nvPr>
            <p:ph idx="1"/>
          </p:nvPr>
        </p:nvPicPr>
        <p:blipFill>
          <a:blip r:embed="rId2"/>
          <a:stretch>
            <a:fillRect/>
          </a:stretch>
        </p:blipFill>
        <p:spPr>
          <a:xfrm>
            <a:off x="2253343" y="2557463"/>
            <a:ext cx="7990114" cy="3317875"/>
          </a:xfrm>
          <a:prstGeom prst="rect">
            <a:avLst/>
          </a:prstGeom>
        </p:spPr>
      </p:pic>
    </p:spTree>
    <p:extLst>
      <p:ext uri="{BB962C8B-B14F-4D97-AF65-F5344CB8AC3E}">
        <p14:creationId xmlns:p14="http://schemas.microsoft.com/office/powerpoint/2010/main" val="42770420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197D9-5CD0-7287-67DB-50CF776DCF8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Sales Activity Across Regions</a:t>
            </a:r>
            <a:endParaRPr lang="en-US" dirty="0"/>
          </a:p>
        </p:txBody>
      </p:sp>
      <p:sp>
        <p:nvSpPr>
          <p:cNvPr id="3" name="Content Placeholder 2">
            <a:extLst>
              <a:ext uri="{FF2B5EF4-FFF2-40B4-BE49-F238E27FC236}">
                <a16:creationId xmlns:a16="http://schemas.microsoft.com/office/drawing/2014/main" id="{8B50254A-1113-3235-0C62-68A73E1368E1}"/>
              </a:ext>
            </a:extLst>
          </p:cNvPr>
          <p:cNvSpPr>
            <a:spLocks noGrp="1"/>
          </p:cNvSpPr>
          <p:nvPr>
            <p:ph idx="1"/>
          </p:nvPr>
        </p:nvSpPr>
        <p:spPr/>
        <p:txBody>
          <a:bodyPr>
            <a:normAutofit fontScale="92500" lnSpcReduction="20000"/>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Sales volume varies across regions. </a:t>
            </a:r>
          </a:p>
          <a:p>
            <a:r>
              <a:rPr lang="en-US" dirty="0">
                <a:latin typeface="Times New Roman" panose="02020603050405020304" pitchFamily="18" charset="0"/>
                <a:cs typeface="Times New Roman" panose="02020603050405020304" pitchFamily="18" charset="0"/>
              </a:rPr>
              <a:t>High sales indicate active housing markets. </a:t>
            </a:r>
          </a:p>
          <a:p>
            <a:r>
              <a:rPr lang="en-US" dirty="0">
                <a:latin typeface="Times New Roman" panose="02020603050405020304" pitchFamily="18" charset="0"/>
                <a:cs typeface="Times New Roman" panose="02020603050405020304" pitchFamily="18" charset="0"/>
              </a:rPr>
              <a:t>Low sales may indicate lower demand. </a:t>
            </a:r>
          </a:p>
          <a:p>
            <a:r>
              <a:rPr lang="en-US" dirty="0">
                <a:latin typeface="Times New Roman" panose="02020603050405020304" pitchFamily="18" charset="0"/>
                <a:cs typeface="Times New Roman" panose="02020603050405020304" pitchFamily="18" charset="0"/>
              </a:rPr>
              <a:t>Jutland shows high market activity.</a:t>
            </a:r>
          </a:p>
          <a:p>
            <a:r>
              <a:rPr lang="en-US" dirty="0">
                <a:latin typeface="Times New Roman" panose="02020603050405020304" pitchFamily="18" charset="0"/>
                <a:cs typeface="Times New Roman" panose="02020603050405020304" pitchFamily="18" charset="0"/>
              </a:rPr>
              <a:t>Bornholm shows high market activity.</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Housing market activity differs considerably between Danish regions.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48916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3560C-EB87-6AF7-296C-3B528A418CF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Type Comparison</a:t>
            </a:r>
          </a:p>
        </p:txBody>
      </p:sp>
      <p:pic>
        <p:nvPicPr>
          <p:cNvPr id="5" name="Content Placeholder 4">
            <a:extLst>
              <a:ext uri="{FF2B5EF4-FFF2-40B4-BE49-F238E27FC236}">
                <a16:creationId xmlns:a16="http://schemas.microsoft.com/office/drawing/2014/main" id="{8555F3D9-F4D1-EE2D-CAE8-0D98F1892EC7}"/>
              </a:ext>
            </a:extLst>
          </p:cNvPr>
          <p:cNvPicPr>
            <a:picLocks noGrp="1" noChangeAspect="1"/>
          </p:cNvPicPr>
          <p:nvPr>
            <p:ph idx="1"/>
          </p:nvPr>
        </p:nvPicPr>
        <p:blipFill>
          <a:blip r:embed="rId2"/>
          <a:stretch>
            <a:fillRect/>
          </a:stretch>
        </p:blipFill>
        <p:spPr>
          <a:xfrm>
            <a:off x="1556657" y="2557463"/>
            <a:ext cx="9122229" cy="3317875"/>
          </a:xfrm>
          <a:prstGeom prst="rect">
            <a:avLst/>
          </a:prstGeom>
        </p:spPr>
      </p:pic>
    </p:spTree>
    <p:extLst>
      <p:ext uri="{BB962C8B-B14F-4D97-AF65-F5344CB8AC3E}">
        <p14:creationId xmlns:p14="http://schemas.microsoft.com/office/powerpoint/2010/main" val="40245685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E4B4C-2DC2-024E-BBCE-4922535B0AD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Type Comparison</a:t>
            </a:r>
            <a:endParaRPr lang="en-US" dirty="0"/>
          </a:p>
        </p:txBody>
      </p:sp>
      <p:sp>
        <p:nvSpPr>
          <p:cNvPr id="3" name="Content Placeholder 2">
            <a:extLst>
              <a:ext uri="{FF2B5EF4-FFF2-40B4-BE49-F238E27FC236}">
                <a16:creationId xmlns:a16="http://schemas.microsoft.com/office/drawing/2014/main" id="{9CBB1E53-9C3D-8ED4-BD13-7A0D747D8F61}"/>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Apartments command higher prices. </a:t>
            </a:r>
          </a:p>
          <a:p>
            <a:r>
              <a:rPr lang="en-US" dirty="0">
                <a:latin typeface="Times New Roman" panose="02020603050405020304" pitchFamily="18" charset="0"/>
                <a:cs typeface="Times New Roman" panose="02020603050405020304" pitchFamily="18" charset="0"/>
              </a:rPr>
              <a:t>Villas are relatively cheaper. </a:t>
            </a:r>
          </a:p>
          <a:p>
            <a:pPr marL="0" indent="0">
              <a:buNone/>
            </a:pPr>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type significantly influences housing prices.</a:t>
            </a:r>
          </a:p>
          <a:p>
            <a:endParaRPr lang="en-US" dirty="0">
              <a:latin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896106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5A61C3B-83C0-2FD2-2FCC-0D02CCCCAE4F}"/>
              </a:ext>
            </a:extLst>
          </p:cNvPr>
          <p:cNvPicPr>
            <a:picLocks noGrp="1" noChangeAspect="1"/>
          </p:cNvPicPr>
          <p:nvPr>
            <p:ph idx="1"/>
          </p:nvPr>
        </p:nvPicPr>
        <p:blipFill>
          <a:blip r:embed="rId2"/>
          <a:stretch>
            <a:fillRect/>
          </a:stretch>
        </p:blipFill>
        <p:spPr>
          <a:xfrm>
            <a:off x="1175658" y="589920"/>
            <a:ext cx="9840684" cy="5678160"/>
          </a:xfrm>
          <a:prstGeom prst="rect">
            <a:avLst/>
          </a:prstGeom>
        </p:spPr>
      </p:pic>
    </p:spTree>
    <p:extLst>
      <p:ext uri="{BB962C8B-B14F-4D97-AF65-F5344CB8AC3E}">
        <p14:creationId xmlns:p14="http://schemas.microsoft.com/office/powerpoint/2010/main" val="3206331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4DFDF-3DAD-1C9C-AF72-8E55BF53AD78}"/>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Property Type Comparison Across Regions</a:t>
            </a:r>
            <a:endParaRPr lang="en-US" dirty="0"/>
          </a:p>
        </p:txBody>
      </p:sp>
      <p:sp>
        <p:nvSpPr>
          <p:cNvPr id="3" name="Content Placeholder 2">
            <a:extLst>
              <a:ext uri="{FF2B5EF4-FFF2-40B4-BE49-F238E27FC236}">
                <a16:creationId xmlns:a16="http://schemas.microsoft.com/office/drawing/2014/main" id="{B22AE035-5CC1-A44B-610D-B49331E2E9A0}"/>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Apartments generally command higher prices. </a:t>
            </a:r>
          </a:p>
          <a:p>
            <a:r>
              <a:rPr lang="en-US" dirty="0">
                <a:latin typeface="Times New Roman" panose="02020603050405020304" pitchFamily="18" charset="0"/>
                <a:cs typeface="Times New Roman" panose="02020603050405020304" pitchFamily="18" charset="0"/>
              </a:rPr>
              <a:t>Villas are relatively cheaper. </a:t>
            </a:r>
          </a:p>
          <a:p>
            <a:r>
              <a:rPr lang="en-US" dirty="0">
                <a:latin typeface="Times New Roman" panose="02020603050405020304" pitchFamily="18" charset="0"/>
                <a:cs typeface="Times New Roman" panose="02020603050405020304" pitchFamily="18" charset="0"/>
              </a:rPr>
              <a:t>Farms, townhouses and summerhouses show distinct pricing patterns.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type significantly influences housing prices.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97918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9230C-145D-3D34-47DE-AB9CDC170BE6}"/>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Capital Copenhagen vs Rest of Zealand and East and Mid of Jutland</a:t>
            </a:r>
          </a:p>
        </p:txBody>
      </p:sp>
      <p:pic>
        <p:nvPicPr>
          <p:cNvPr id="5" name="Content Placeholder 4">
            <a:extLst>
              <a:ext uri="{FF2B5EF4-FFF2-40B4-BE49-F238E27FC236}">
                <a16:creationId xmlns:a16="http://schemas.microsoft.com/office/drawing/2014/main" id="{5A081418-CF04-A482-637F-AE91C94A7B6C}"/>
              </a:ext>
            </a:extLst>
          </p:cNvPr>
          <p:cNvPicPr>
            <a:picLocks noGrp="1" noChangeAspect="1"/>
          </p:cNvPicPr>
          <p:nvPr>
            <p:ph idx="1"/>
          </p:nvPr>
        </p:nvPicPr>
        <p:blipFill>
          <a:blip r:embed="rId2"/>
          <a:stretch>
            <a:fillRect/>
          </a:stretch>
        </p:blipFill>
        <p:spPr>
          <a:xfrm>
            <a:off x="2296885" y="2467109"/>
            <a:ext cx="7598230" cy="3552691"/>
          </a:xfrm>
          <a:prstGeom prst="rect">
            <a:avLst/>
          </a:prstGeom>
        </p:spPr>
      </p:pic>
    </p:spTree>
    <p:extLst>
      <p:ext uri="{BB962C8B-B14F-4D97-AF65-F5344CB8AC3E}">
        <p14:creationId xmlns:p14="http://schemas.microsoft.com/office/powerpoint/2010/main" val="4035248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B8632-21BB-A838-9259-98851033DE82}"/>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Capital Copenhagen vs Rest of Zealand and East and Mid of Jutland</a:t>
            </a:r>
            <a:endParaRPr lang="en-US" dirty="0"/>
          </a:p>
        </p:txBody>
      </p:sp>
      <p:pic>
        <p:nvPicPr>
          <p:cNvPr id="5" name="Content Placeholder 4">
            <a:extLst>
              <a:ext uri="{FF2B5EF4-FFF2-40B4-BE49-F238E27FC236}">
                <a16:creationId xmlns:a16="http://schemas.microsoft.com/office/drawing/2014/main" id="{375AFDF2-063C-F778-199F-B20A1E7F9317}"/>
              </a:ext>
            </a:extLst>
          </p:cNvPr>
          <p:cNvPicPr>
            <a:picLocks noGrp="1" noChangeAspect="1"/>
          </p:cNvPicPr>
          <p:nvPr>
            <p:ph idx="1"/>
          </p:nvPr>
        </p:nvPicPr>
        <p:blipFill>
          <a:blip r:embed="rId2"/>
          <a:stretch>
            <a:fillRect/>
          </a:stretch>
        </p:blipFill>
        <p:spPr>
          <a:xfrm>
            <a:off x="1348889" y="2449285"/>
            <a:ext cx="9417081" cy="3505513"/>
          </a:xfrm>
          <a:prstGeom prst="rect">
            <a:avLst/>
          </a:prstGeom>
        </p:spPr>
      </p:pic>
    </p:spTree>
    <p:extLst>
      <p:ext uri="{BB962C8B-B14F-4D97-AF65-F5344CB8AC3E}">
        <p14:creationId xmlns:p14="http://schemas.microsoft.com/office/powerpoint/2010/main" val="22013182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4C77B13-F25E-B1BA-4485-34F9D938FD08}"/>
              </a:ext>
            </a:extLst>
          </p:cNvPr>
          <p:cNvPicPr>
            <a:picLocks noGrp="1" noChangeAspect="1"/>
          </p:cNvPicPr>
          <p:nvPr>
            <p:ph idx="1"/>
          </p:nvPr>
        </p:nvPicPr>
        <p:blipFill>
          <a:blip r:embed="rId2"/>
          <a:stretch>
            <a:fillRect/>
          </a:stretch>
        </p:blipFill>
        <p:spPr>
          <a:xfrm>
            <a:off x="1054207" y="1045029"/>
            <a:ext cx="10016564" cy="4830309"/>
          </a:xfrm>
          <a:prstGeom prst="rect">
            <a:avLst/>
          </a:prstGeom>
        </p:spPr>
      </p:pic>
    </p:spTree>
    <p:extLst>
      <p:ext uri="{BB962C8B-B14F-4D97-AF65-F5344CB8AC3E}">
        <p14:creationId xmlns:p14="http://schemas.microsoft.com/office/powerpoint/2010/main" val="19360459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B8349-4D57-B21C-737E-F28C3355D2B5}"/>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Capital Copenhagen vs Rest of Zealand and East and Mid of Jutland</a:t>
            </a:r>
            <a:endParaRPr lang="en-US" dirty="0"/>
          </a:p>
        </p:txBody>
      </p:sp>
      <p:sp>
        <p:nvSpPr>
          <p:cNvPr id="3" name="Content Placeholder 2">
            <a:extLst>
              <a:ext uri="{FF2B5EF4-FFF2-40B4-BE49-F238E27FC236}">
                <a16:creationId xmlns:a16="http://schemas.microsoft.com/office/drawing/2014/main" id="{F0BAE420-9292-4C10-9330-56D5A1C85240}"/>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Copenhagen records the highest price per square meter. </a:t>
            </a:r>
          </a:p>
          <a:p>
            <a:r>
              <a:rPr lang="en-US" dirty="0">
                <a:latin typeface="Times New Roman" panose="02020603050405020304" pitchFamily="18" charset="0"/>
                <a:cs typeface="Times New Roman" panose="02020603050405020304" pitchFamily="18" charset="0"/>
              </a:rPr>
              <a:t>Properties are generally smaller but more expensive. </a:t>
            </a:r>
          </a:p>
          <a:p>
            <a:r>
              <a:rPr lang="en-US" dirty="0">
                <a:latin typeface="Times New Roman" panose="02020603050405020304" pitchFamily="18" charset="0"/>
                <a:cs typeface="Times New Roman" panose="02020603050405020304" pitchFamily="18" charset="0"/>
              </a:rPr>
              <a:t>Other regions offer larger properties at lower prices.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Location greatly affects price per square meter.</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6634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B1FC-184C-9D2B-C715-B8A46031A51D}"/>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Quarter 3 vs Quarter 4 Analysis of Average Square Meter Price</a:t>
            </a:r>
          </a:p>
        </p:txBody>
      </p:sp>
      <p:pic>
        <p:nvPicPr>
          <p:cNvPr id="5" name="Content Placeholder 4">
            <a:extLst>
              <a:ext uri="{FF2B5EF4-FFF2-40B4-BE49-F238E27FC236}">
                <a16:creationId xmlns:a16="http://schemas.microsoft.com/office/drawing/2014/main" id="{5F79CE95-9840-E659-D265-EE8B9E59F5B5}"/>
              </a:ext>
            </a:extLst>
          </p:cNvPr>
          <p:cNvPicPr>
            <a:picLocks noGrp="1" noChangeAspect="1"/>
          </p:cNvPicPr>
          <p:nvPr>
            <p:ph idx="1"/>
          </p:nvPr>
        </p:nvPicPr>
        <p:blipFill>
          <a:blip r:embed="rId2"/>
          <a:stretch>
            <a:fillRect/>
          </a:stretch>
        </p:blipFill>
        <p:spPr>
          <a:xfrm>
            <a:off x="1905000" y="2466782"/>
            <a:ext cx="8403771" cy="3067311"/>
          </a:xfrm>
          <a:prstGeom prst="rect">
            <a:avLst/>
          </a:prstGeom>
        </p:spPr>
      </p:pic>
    </p:spTree>
    <p:extLst>
      <p:ext uri="{BB962C8B-B14F-4D97-AF65-F5344CB8AC3E}">
        <p14:creationId xmlns:p14="http://schemas.microsoft.com/office/powerpoint/2010/main" val="2439137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56B3E-3A57-4915-39AE-5F76A17B80D9}"/>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Quarter 3 vs Quarter 4 Analysis of Number of Sales</a:t>
            </a:r>
            <a:endParaRPr lang="en-US" dirty="0"/>
          </a:p>
        </p:txBody>
      </p:sp>
      <p:pic>
        <p:nvPicPr>
          <p:cNvPr id="5" name="Content Placeholder 4">
            <a:extLst>
              <a:ext uri="{FF2B5EF4-FFF2-40B4-BE49-F238E27FC236}">
                <a16:creationId xmlns:a16="http://schemas.microsoft.com/office/drawing/2014/main" id="{5F784233-24C1-AC9F-00AE-C3E67AE160B3}"/>
              </a:ext>
            </a:extLst>
          </p:cNvPr>
          <p:cNvPicPr>
            <a:picLocks noGrp="1" noChangeAspect="1"/>
          </p:cNvPicPr>
          <p:nvPr>
            <p:ph idx="1"/>
          </p:nvPr>
        </p:nvPicPr>
        <p:blipFill>
          <a:blip r:embed="rId2"/>
          <a:stretch>
            <a:fillRect/>
          </a:stretch>
        </p:blipFill>
        <p:spPr>
          <a:xfrm>
            <a:off x="1730829" y="2430194"/>
            <a:ext cx="8686800" cy="3694202"/>
          </a:xfrm>
          <a:prstGeom prst="rect">
            <a:avLst/>
          </a:prstGeom>
        </p:spPr>
      </p:pic>
    </p:spTree>
    <p:extLst>
      <p:ext uri="{BB962C8B-B14F-4D97-AF65-F5344CB8AC3E}">
        <p14:creationId xmlns:p14="http://schemas.microsoft.com/office/powerpoint/2010/main" val="6682949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6B397-763C-B4E8-5DDE-484B5E4DBA66}"/>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Quarter 3 vs Quarter 4 Analysis</a:t>
            </a:r>
            <a:endParaRPr lang="en-US" dirty="0"/>
          </a:p>
        </p:txBody>
      </p:sp>
      <p:sp>
        <p:nvSpPr>
          <p:cNvPr id="3" name="Content Placeholder 2">
            <a:extLst>
              <a:ext uri="{FF2B5EF4-FFF2-40B4-BE49-F238E27FC236}">
                <a16:creationId xmlns:a16="http://schemas.microsoft.com/office/drawing/2014/main" id="{BE9E2C52-72AF-52A8-1F7C-B5175CE86D6F}"/>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Average prices changed by decreasing from Quarter 3 to Quarter 4.</a:t>
            </a:r>
          </a:p>
          <a:p>
            <a:r>
              <a:rPr lang="en-US" dirty="0">
                <a:latin typeface="Times New Roman" panose="02020603050405020304" pitchFamily="18" charset="0"/>
                <a:cs typeface="Times New Roman" panose="02020603050405020304" pitchFamily="18" charset="0"/>
              </a:rPr>
              <a:t>Sales volume also fluctuated by decreasing from Quarter 3 to Quarter 4. </a:t>
            </a:r>
          </a:p>
          <a:p>
            <a:r>
              <a:rPr lang="en-US" dirty="0">
                <a:latin typeface="Times New Roman" panose="02020603050405020304" pitchFamily="18" charset="0"/>
                <a:cs typeface="Times New Roman" panose="02020603050405020304" pitchFamily="18" charset="0"/>
              </a:rPr>
              <a:t>Seasonal effects were observed.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Housing prices and market activity vary over time.</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49005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36498-1E21-121A-A7FE-0447FD687DB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Top 5% Most Expensive Properties</a:t>
            </a:r>
          </a:p>
        </p:txBody>
      </p:sp>
      <p:pic>
        <p:nvPicPr>
          <p:cNvPr id="5" name="Content Placeholder 4">
            <a:extLst>
              <a:ext uri="{FF2B5EF4-FFF2-40B4-BE49-F238E27FC236}">
                <a16:creationId xmlns:a16="http://schemas.microsoft.com/office/drawing/2014/main" id="{53DCB025-0E15-649D-5172-ACC9E2974274}"/>
              </a:ext>
            </a:extLst>
          </p:cNvPr>
          <p:cNvPicPr>
            <a:picLocks noGrp="1" noChangeAspect="1"/>
          </p:cNvPicPr>
          <p:nvPr>
            <p:ph idx="1"/>
          </p:nvPr>
        </p:nvPicPr>
        <p:blipFill>
          <a:blip r:embed="rId2"/>
          <a:stretch>
            <a:fillRect/>
          </a:stretch>
        </p:blipFill>
        <p:spPr>
          <a:xfrm>
            <a:off x="1527982" y="2470524"/>
            <a:ext cx="3893104" cy="3700377"/>
          </a:xfrm>
          <a:prstGeom prst="rect">
            <a:avLst/>
          </a:prstGeom>
        </p:spPr>
      </p:pic>
      <p:pic>
        <p:nvPicPr>
          <p:cNvPr id="9" name="Picture 8">
            <a:extLst>
              <a:ext uri="{FF2B5EF4-FFF2-40B4-BE49-F238E27FC236}">
                <a16:creationId xmlns:a16="http://schemas.microsoft.com/office/drawing/2014/main" id="{00105418-5A71-3C63-0A0B-EA5FADB879A0}"/>
              </a:ext>
            </a:extLst>
          </p:cNvPr>
          <p:cNvPicPr>
            <a:picLocks noChangeAspect="1"/>
          </p:cNvPicPr>
          <p:nvPr/>
        </p:nvPicPr>
        <p:blipFill>
          <a:blip r:embed="rId3"/>
          <a:stretch>
            <a:fillRect/>
          </a:stretch>
        </p:blipFill>
        <p:spPr>
          <a:xfrm>
            <a:off x="5744352" y="2582967"/>
            <a:ext cx="5035809" cy="3587934"/>
          </a:xfrm>
          <a:prstGeom prst="rect">
            <a:avLst/>
          </a:prstGeom>
        </p:spPr>
      </p:pic>
    </p:spTree>
    <p:extLst>
      <p:ext uri="{BB962C8B-B14F-4D97-AF65-F5344CB8AC3E}">
        <p14:creationId xmlns:p14="http://schemas.microsoft.com/office/powerpoint/2010/main" val="39324307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15746-F13E-B0EB-7E47-79CC3FA38FC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Top 5% Most Expensive Properties</a:t>
            </a:r>
            <a:endParaRPr lang="en-US" dirty="0"/>
          </a:p>
        </p:txBody>
      </p:sp>
      <p:pic>
        <p:nvPicPr>
          <p:cNvPr id="5" name="Content Placeholder 4">
            <a:extLst>
              <a:ext uri="{FF2B5EF4-FFF2-40B4-BE49-F238E27FC236}">
                <a16:creationId xmlns:a16="http://schemas.microsoft.com/office/drawing/2014/main" id="{083B38DB-894E-85C2-2352-37D95757A114}"/>
              </a:ext>
            </a:extLst>
          </p:cNvPr>
          <p:cNvPicPr>
            <a:picLocks noGrp="1" noChangeAspect="1"/>
          </p:cNvPicPr>
          <p:nvPr>
            <p:ph idx="1"/>
          </p:nvPr>
        </p:nvPicPr>
        <p:blipFill>
          <a:blip r:embed="rId2"/>
          <a:stretch>
            <a:fillRect/>
          </a:stretch>
        </p:blipFill>
        <p:spPr>
          <a:xfrm>
            <a:off x="963116" y="2470907"/>
            <a:ext cx="4839563" cy="3317875"/>
          </a:xfrm>
          <a:prstGeom prst="rect">
            <a:avLst/>
          </a:prstGeom>
        </p:spPr>
      </p:pic>
      <p:pic>
        <p:nvPicPr>
          <p:cNvPr id="7" name="Picture 6">
            <a:extLst>
              <a:ext uri="{FF2B5EF4-FFF2-40B4-BE49-F238E27FC236}">
                <a16:creationId xmlns:a16="http://schemas.microsoft.com/office/drawing/2014/main" id="{C178DE45-59EE-7921-AA05-8515E88A8AD9}"/>
              </a:ext>
            </a:extLst>
          </p:cNvPr>
          <p:cNvPicPr>
            <a:picLocks noChangeAspect="1"/>
          </p:cNvPicPr>
          <p:nvPr/>
        </p:nvPicPr>
        <p:blipFill>
          <a:blip r:embed="rId3"/>
          <a:stretch>
            <a:fillRect/>
          </a:stretch>
        </p:blipFill>
        <p:spPr>
          <a:xfrm>
            <a:off x="6096000" y="2470907"/>
            <a:ext cx="5378726" cy="3886400"/>
          </a:xfrm>
          <a:prstGeom prst="rect">
            <a:avLst/>
          </a:prstGeom>
        </p:spPr>
      </p:pic>
    </p:spTree>
    <p:extLst>
      <p:ext uri="{BB962C8B-B14F-4D97-AF65-F5344CB8AC3E}">
        <p14:creationId xmlns:p14="http://schemas.microsoft.com/office/powerpoint/2010/main" val="30318210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59580-8B8D-107D-A807-0EDFC7EE4106}"/>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Top 5% Most Expensive Properties</a:t>
            </a:r>
            <a:endParaRPr lang="en-US" dirty="0"/>
          </a:p>
        </p:txBody>
      </p:sp>
      <p:pic>
        <p:nvPicPr>
          <p:cNvPr id="5" name="Content Placeholder 4">
            <a:extLst>
              <a:ext uri="{FF2B5EF4-FFF2-40B4-BE49-F238E27FC236}">
                <a16:creationId xmlns:a16="http://schemas.microsoft.com/office/drawing/2014/main" id="{1E40827D-71D2-F44B-0013-11DF0E117689}"/>
              </a:ext>
            </a:extLst>
          </p:cNvPr>
          <p:cNvPicPr>
            <a:picLocks noGrp="1" noChangeAspect="1"/>
          </p:cNvPicPr>
          <p:nvPr>
            <p:ph idx="1"/>
          </p:nvPr>
        </p:nvPicPr>
        <p:blipFill>
          <a:blip r:embed="rId2"/>
          <a:stretch>
            <a:fillRect/>
          </a:stretch>
        </p:blipFill>
        <p:spPr>
          <a:xfrm>
            <a:off x="3912129" y="2456761"/>
            <a:ext cx="4471047" cy="3602516"/>
          </a:xfrm>
          <a:prstGeom prst="rect">
            <a:avLst/>
          </a:prstGeom>
        </p:spPr>
      </p:pic>
    </p:spTree>
    <p:extLst>
      <p:ext uri="{BB962C8B-B14F-4D97-AF65-F5344CB8AC3E}">
        <p14:creationId xmlns:p14="http://schemas.microsoft.com/office/powerpoint/2010/main" val="17240287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3F429-7E8D-926C-3D3C-2E12CEF57F6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Top 5% Most Expensive Properties</a:t>
            </a:r>
            <a:endParaRPr lang="en-US" dirty="0"/>
          </a:p>
        </p:txBody>
      </p:sp>
      <p:sp>
        <p:nvSpPr>
          <p:cNvPr id="3" name="Content Placeholder 2">
            <a:extLst>
              <a:ext uri="{FF2B5EF4-FFF2-40B4-BE49-F238E27FC236}">
                <a16:creationId xmlns:a16="http://schemas.microsoft.com/office/drawing/2014/main" id="{2D328CD3-6210-CA5B-EAF4-1CBEE66D8A1A}"/>
              </a:ext>
            </a:extLst>
          </p:cNvPr>
          <p:cNvSpPr>
            <a:spLocks noGrp="1"/>
          </p:cNvSpPr>
          <p:nvPr>
            <p:ph idx="1"/>
          </p:nvPr>
        </p:nvSpPr>
        <p:spPr/>
        <p:txBody>
          <a:bodyPr>
            <a:normAutofit fontScale="77500" lnSpcReduction="20000"/>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Luxury properties generally have:</a:t>
            </a:r>
          </a:p>
          <a:p>
            <a:r>
              <a:rPr lang="en-US" dirty="0">
                <a:latin typeface="Times New Roman" panose="02020603050405020304" pitchFamily="18" charset="0"/>
                <a:cs typeface="Times New Roman" panose="02020603050405020304" pitchFamily="18" charset="0"/>
              </a:rPr>
              <a:t>Larger sizes </a:t>
            </a:r>
          </a:p>
          <a:p>
            <a:r>
              <a:rPr lang="en-US" dirty="0">
                <a:latin typeface="Times New Roman" panose="02020603050405020304" pitchFamily="18" charset="0"/>
                <a:cs typeface="Times New Roman" panose="02020603050405020304" pitchFamily="18" charset="0"/>
              </a:rPr>
              <a:t>Premium locations </a:t>
            </a:r>
          </a:p>
          <a:p>
            <a:r>
              <a:rPr lang="en-US" dirty="0">
                <a:latin typeface="Times New Roman" panose="02020603050405020304" pitchFamily="18" charset="0"/>
                <a:cs typeface="Times New Roman" panose="02020603050405020304" pitchFamily="18" charset="0"/>
              </a:rPr>
              <a:t>Higher price per square meter </a:t>
            </a:r>
          </a:p>
          <a:p>
            <a:r>
              <a:rPr lang="en-US" dirty="0">
                <a:latin typeface="Times New Roman" panose="02020603050405020304" pitchFamily="18" charset="0"/>
                <a:cs typeface="Times New Roman" panose="02020603050405020304" pitchFamily="18" charset="0"/>
              </a:rPr>
              <a:t>Mostly villas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Luxury homes possess unique characteristics that distinguish them from ordinary properties.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93608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8F248-783C-7DFC-9B07-3C509110ABF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Distribution of Housing Data</a:t>
            </a:r>
          </a:p>
        </p:txBody>
      </p:sp>
      <p:pic>
        <p:nvPicPr>
          <p:cNvPr id="5" name="Content Placeholder 4">
            <a:extLst>
              <a:ext uri="{FF2B5EF4-FFF2-40B4-BE49-F238E27FC236}">
                <a16:creationId xmlns:a16="http://schemas.microsoft.com/office/drawing/2014/main" id="{43C0CC0F-C8B1-F70A-BA45-C19B4493503C}"/>
              </a:ext>
            </a:extLst>
          </p:cNvPr>
          <p:cNvPicPr>
            <a:picLocks noGrp="1" noChangeAspect="1"/>
          </p:cNvPicPr>
          <p:nvPr>
            <p:ph idx="1"/>
          </p:nvPr>
        </p:nvPicPr>
        <p:blipFill>
          <a:blip r:embed="rId2"/>
          <a:stretch>
            <a:fillRect/>
          </a:stretch>
        </p:blipFill>
        <p:spPr>
          <a:xfrm>
            <a:off x="1542362" y="2478795"/>
            <a:ext cx="9354236" cy="3716562"/>
          </a:xfrm>
          <a:prstGeom prst="rect">
            <a:avLst/>
          </a:prstGeom>
        </p:spPr>
      </p:pic>
    </p:spTree>
    <p:extLst>
      <p:ext uri="{BB962C8B-B14F-4D97-AF65-F5344CB8AC3E}">
        <p14:creationId xmlns:p14="http://schemas.microsoft.com/office/powerpoint/2010/main" val="15559476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50C1-CC86-A18E-4C84-729BF56A8F5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Distribution of Housing Data</a:t>
            </a:r>
            <a:endParaRPr lang="en-US" dirty="0"/>
          </a:p>
        </p:txBody>
      </p:sp>
      <p:sp>
        <p:nvSpPr>
          <p:cNvPr id="3" name="Content Placeholder 2">
            <a:extLst>
              <a:ext uri="{FF2B5EF4-FFF2-40B4-BE49-F238E27FC236}">
                <a16:creationId xmlns:a16="http://schemas.microsoft.com/office/drawing/2014/main" id="{D47FBB41-FF86-0D18-6A14-28195D01EEF7}"/>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Villas dominate the dataset. </a:t>
            </a:r>
          </a:p>
          <a:p>
            <a:r>
              <a:rPr lang="en-US" dirty="0">
                <a:latin typeface="Times New Roman" panose="02020603050405020304" pitchFamily="18" charset="0"/>
                <a:cs typeface="Times New Roman" panose="02020603050405020304" pitchFamily="18" charset="0"/>
              </a:rPr>
              <a:t>Some regions contain more observations. </a:t>
            </a:r>
          </a:p>
          <a:p>
            <a:r>
              <a:rPr lang="en-US" dirty="0">
                <a:latin typeface="Times New Roman" panose="02020603050405020304" pitchFamily="18" charset="0"/>
                <a:cs typeface="Times New Roman" panose="02020603050405020304" pitchFamily="18" charset="0"/>
              </a:rPr>
              <a:t>Housing prices are positively skewed.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The dataset reflects a diverse housing market.</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45330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037A2-08DE-A43E-C1D5-1529C158709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Housing Price Trends Over Time</a:t>
            </a:r>
          </a:p>
        </p:txBody>
      </p:sp>
      <p:pic>
        <p:nvPicPr>
          <p:cNvPr id="5" name="Content Placeholder 4">
            <a:extLst>
              <a:ext uri="{FF2B5EF4-FFF2-40B4-BE49-F238E27FC236}">
                <a16:creationId xmlns:a16="http://schemas.microsoft.com/office/drawing/2014/main" id="{F4F4102A-B621-A7A8-8941-1E7C3B821B3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52531" y="2544897"/>
            <a:ext cx="8901628" cy="3527492"/>
          </a:xfrm>
          <a:prstGeom prst="rect">
            <a:avLst/>
          </a:prstGeom>
        </p:spPr>
      </p:pic>
    </p:spTree>
    <p:extLst>
      <p:ext uri="{BB962C8B-B14F-4D97-AF65-F5344CB8AC3E}">
        <p14:creationId xmlns:p14="http://schemas.microsoft.com/office/powerpoint/2010/main" val="30359467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7FD5E-1644-85F7-35DB-21A672F0683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Housing Price Trends Over Time</a:t>
            </a:r>
          </a:p>
        </p:txBody>
      </p:sp>
      <p:pic>
        <p:nvPicPr>
          <p:cNvPr id="5" name="Content Placeholder 4">
            <a:extLst>
              <a:ext uri="{FF2B5EF4-FFF2-40B4-BE49-F238E27FC236}">
                <a16:creationId xmlns:a16="http://schemas.microsoft.com/office/drawing/2014/main" id="{29D728CA-E047-DBAC-C0BB-536EEB514CAD}"/>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2610"/>
          <a:stretch>
            <a:fillRect/>
          </a:stretch>
        </p:blipFill>
        <p:spPr>
          <a:xfrm>
            <a:off x="1553379" y="2437551"/>
            <a:ext cx="8989763" cy="3762075"/>
          </a:xfrm>
          <a:prstGeom prst="rect">
            <a:avLst/>
          </a:prstGeom>
        </p:spPr>
      </p:pic>
    </p:spTree>
    <p:extLst>
      <p:ext uri="{BB962C8B-B14F-4D97-AF65-F5344CB8AC3E}">
        <p14:creationId xmlns:p14="http://schemas.microsoft.com/office/powerpoint/2010/main" val="3167779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B8827-FE40-8358-922B-38CD0EB20F9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Housing Price Trends Over Time</a:t>
            </a:r>
            <a:endParaRPr lang="en-US" dirty="0"/>
          </a:p>
        </p:txBody>
      </p:sp>
      <p:sp>
        <p:nvSpPr>
          <p:cNvPr id="3" name="Content Placeholder 2">
            <a:extLst>
              <a:ext uri="{FF2B5EF4-FFF2-40B4-BE49-F238E27FC236}">
                <a16:creationId xmlns:a16="http://schemas.microsoft.com/office/drawing/2014/main" id="{AF5193E7-8ED6-D77C-F7CE-53518EBE069D}"/>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Prices fluctuate across time. </a:t>
            </a:r>
          </a:p>
          <a:p>
            <a:r>
              <a:rPr lang="en-US" dirty="0">
                <a:latin typeface="Times New Roman" panose="02020603050405020304" pitchFamily="18" charset="0"/>
                <a:cs typeface="Times New Roman" panose="02020603050405020304" pitchFamily="18" charset="0"/>
              </a:rPr>
              <a:t>Regional trends differ. </a:t>
            </a:r>
          </a:p>
          <a:p>
            <a:r>
              <a:rPr lang="en-US" dirty="0">
                <a:latin typeface="Times New Roman" panose="02020603050405020304" pitchFamily="18" charset="0"/>
                <a:cs typeface="Times New Roman" panose="02020603050405020304" pitchFamily="18" charset="0"/>
              </a:rPr>
              <a:t>Sales volume changes seasonally.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Housing markets are dynamic and influenced by time.</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178465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48EFD-A761-6866-5C1A-7D1EE864112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Correlation Analysis</a:t>
            </a:r>
          </a:p>
        </p:txBody>
      </p:sp>
      <p:pic>
        <p:nvPicPr>
          <p:cNvPr id="4" name="Content Placeholder 3">
            <a:extLst>
              <a:ext uri="{FF2B5EF4-FFF2-40B4-BE49-F238E27FC236}">
                <a16:creationId xmlns:a16="http://schemas.microsoft.com/office/drawing/2014/main" id="{1E092CE1-F3A3-8F3F-D92A-A9C0E984D1C9}"/>
              </a:ext>
            </a:extLst>
          </p:cNvPr>
          <p:cNvPicPr>
            <a:picLocks noGrp="1" noChangeAspect="1"/>
          </p:cNvPicPr>
          <p:nvPr>
            <p:ph idx="1"/>
          </p:nvPr>
        </p:nvPicPr>
        <p:blipFill>
          <a:blip r:embed="rId2"/>
          <a:stretch>
            <a:fillRect/>
          </a:stretch>
        </p:blipFill>
        <p:spPr>
          <a:xfrm>
            <a:off x="1426029" y="2557463"/>
            <a:ext cx="9372600" cy="3636508"/>
          </a:xfrm>
          <a:prstGeom prst="rect">
            <a:avLst/>
          </a:prstGeom>
        </p:spPr>
      </p:pic>
    </p:spTree>
    <p:extLst>
      <p:ext uri="{BB962C8B-B14F-4D97-AF65-F5344CB8AC3E}">
        <p14:creationId xmlns:p14="http://schemas.microsoft.com/office/powerpoint/2010/main" val="9835965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74CB3-C3DE-3302-4512-DCD1BCE1D0A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Correlation Analysis with Purchase Price</a:t>
            </a:r>
          </a:p>
        </p:txBody>
      </p:sp>
      <p:pic>
        <p:nvPicPr>
          <p:cNvPr id="3" name="Picture 2">
            <a:extLst>
              <a:ext uri="{FF2B5EF4-FFF2-40B4-BE49-F238E27FC236}">
                <a16:creationId xmlns:a16="http://schemas.microsoft.com/office/drawing/2014/main" id="{BFEDE7F6-49DC-729B-5093-1781E9794FFE}"/>
              </a:ext>
            </a:extLst>
          </p:cNvPr>
          <p:cNvPicPr>
            <a:picLocks noChangeAspect="1"/>
          </p:cNvPicPr>
          <p:nvPr/>
        </p:nvPicPr>
        <p:blipFill>
          <a:blip r:embed="rId2"/>
          <a:stretch>
            <a:fillRect/>
          </a:stretch>
        </p:blipFill>
        <p:spPr>
          <a:xfrm>
            <a:off x="1328057" y="2556932"/>
            <a:ext cx="9459685" cy="3318936"/>
          </a:xfrm>
          <a:prstGeom prst="rect">
            <a:avLst/>
          </a:prstGeom>
        </p:spPr>
      </p:pic>
    </p:spTree>
    <p:extLst>
      <p:ext uri="{BB962C8B-B14F-4D97-AF65-F5344CB8AC3E}">
        <p14:creationId xmlns:p14="http://schemas.microsoft.com/office/powerpoint/2010/main" val="7628476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9A5BA-76E3-FD79-45CD-F4B48EBD08F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Correlation Analysis</a:t>
            </a:r>
          </a:p>
        </p:txBody>
      </p:sp>
      <p:sp>
        <p:nvSpPr>
          <p:cNvPr id="3" name="Content Placeholder 2">
            <a:extLst>
              <a:ext uri="{FF2B5EF4-FFF2-40B4-BE49-F238E27FC236}">
                <a16:creationId xmlns:a16="http://schemas.microsoft.com/office/drawing/2014/main" id="{ADA54C21-B62C-0952-06DD-F16C5310AFA6}"/>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Purchase price strongly correlates with property size. </a:t>
            </a:r>
          </a:p>
          <a:p>
            <a:r>
              <a:rPr lang="en-US" dirty="0">
                <a:latin typeface="Times New Roman" panose="02020603050405020304" pitchFamily="18" charset="0"/>
                <a:cs typeface="Times New Roman" panose="02020603050405020304" pitchFamily="18" charset="0"/>
              </a:rPr>
              <a:t>Price per square meter has a moderate relationship. </a:t>
            </a:r>
          </a:p>
          <a:p>
            <a:r>
              <a:rPr lang="en-US" dirty="0">
                <a:latin typeface="Times New Roman" panose="02020603050405020304" pitchFamily="18" charset="0"/>
                <a:cs typeface="Times New Roman" panose="02020603050405020304" pitchFamily="18" charset="0"/>
              </a:rPr>
              <a:t>Some variables have weak correlations.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size is among the strongest predictors of housing prices.</a:t>
            </a:r>
          </a:p>
        </p:txBody>
      </p:sp>
    </p:spTree>
    <p:extLst>
      <p:ext uri="{BB962C8B-B14F-4D97-AF65-F5344CB8AC3E}">
        <p14:creationId xmlns:p14="http://schemas.microsoft.com/office/powerpoint/2010/main" val="38437891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E0621-BFF2-FFEE-24AA-86504F7F93D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Negotiation Outcomes</a:t>
            </a:r>
          </a:p>
        </p:txBody>
      </p:sp>
      <p:pic>
        <p:nvPicPr>
          <p:cNvPr id="5" name="Content Placeholder 4">
            <a:extLst>
              <a:ext uri="{FF2B5EF4-FFF2-40B4-BE49-F238E27FC236}">
                <a16:creationId xmlns:a16="http://schemas.microsoft.com/office/drawing/2014/main" id="{84FA6DBA-1590-7BE9-296D-18585CD2F47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99142" y="2557463"/>
            <a:ext cx="9265186" cy="3317875"/>
          </a:xfrm>
          <a:prstGeom prst="rect">
            <a:avLst/>
          </a:prstGeom>
        </p:spPr>
      </p:pic>
    </p:spTree>
    <p:extLst>
      <p:ext uri="{BB962C8B-B14F-4D97-AF65-F5344CB8AC3E}">
        <p14:creationId xmlns:p14="http://schemas.microsoft.com/office/powerpoint/2010/main" val="35583376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E0DD5B-6252-7E18-D241-AA5E7E49A0B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Negotiation Outcomes</a:t>
            </a:r>
            <a:endParaRPr lang="en-US" dirty="0"/>
          </a:p>
        </p:txBody>
      </p:sp>
      <p:sp>
        <p:nvSpPr>
          <p:cNvPr id="3" name="Content Placeholder 2">
            <a:extLst>
              <a:ext uri="{FF2B5EF4-FFF2-40B4-BE49-F238E27FC236}">
                <a16:creationId xmlns:a16="http://schemas.microsoft.com/office/drawing/2014/main" id="{8663665A-6984-F44D-D231-E50AFC5EA2FB}"/>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Purchase prices are generally below offer prices. </a:t>
            </a:r>
          </a:p>
          <a:p>
            <a:r>
              <a:rPr lang="en-US" dirty="0">
                <a:latin typeface="Times New Roman" panose="02020603050405020304" pitchFamily="18" charset="0"/>
                <a:cs typeface="Times New Roman" panose="02020603050405020304" pitchFamily="18" charset="0"/>
              </a:rPr>
              <a:t>Negotiation differences vary across property types. </a:t>
            </a:r>
          </a:p>
          <a:p>
            <a:r>
              <a:rPr lang="en-US" dirty="0">
                <a:latin typeface="Times New Roman" panose="02020603050405020304" pitchFamily="18" charset="0"/>
                <a:cs typeface="Times New Roman" panose="02020603050405020304" pitchFamily="18" charset="0"/>
              </a:rPr>
              <a:t>Regional differences also exist.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Negotiation outcomes depend on both property type and location.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59037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99BE0-E6E2-0411-B071-62854425966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Age and Construction Decade</a:t>
            </a:r>
          </a:p>
        </p:txBody>
      </p:sp>
      <p:pic>
        <p:nvPicPr>
          <p:cNvPr id="5" name="Content Placeholder 4">
            <a:extLst>
              <a:ext uri="{FF2B5EF4-FFF2-40B4-BE49-F238E27FC236}">
                <a16:creationId xmlns:a16="http://schemas.microsoft.com/office/drawing/2014/main" id="{5002AE9F-4411-3431-CB8E-96A7ED49596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445745" y="2504572"/>
            <a:ext cx="6973677" cy="3371296"/>
          </a:xfrm>
          <a:prstGeom prst="rect">
            <a:avLst/>
          </a:prstGeom>
        </p:spPr>
      </p:pic>
    </p:spTree>
    <p:extLst>
      <p:ext uri="{BB962C8B-B14F-4D97-AF65-F5344CB8AC3E}">
        <p14:creationId xmlns:p14="http://schemas.microsoft.com/office/powerpoint/2010/main" val="3402865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7753B-8A10-9322-97E5-C84D7BC98BC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Age and Construction Decade</a:t>
            </a:r>
            <a:endParaRPr lang="en-US" dirty="0"/>
          </a:p>
        </p:txBody>
      </p:sp>
      <p:pic>
        <p:nvPicPr>
          <p:cNvPr id="5" name="Content Placeholder 4">
            <a:extLst>
              <a:ext uri="{FF2B5EF4-FFF2-40B4-BE49-F238E27FC236}">
                <a16:creationId xmlns:a16="http://schemas.microsoft.com/office/drawing/2014/main" id="{12687414-0A08-E021-402B-7693F716C1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07614" y="2533879"/>
            <a:ext cx="8879595" cy="3516129"/>
          </a:xfrm>
          <a:prstGeom prst="rect">
            <a:avLst/>
          </a:prstGeom>
        </p:spPr>
      </p:pic>
    </p:spTree>
    <p:extLst>
      <p:ext uri="{BB962C8B-B14F-4D97-AF65-F5344CB8AC3E}">
        <p14:creationId xmlns:p14="http://schemas.microsoft.com/office/powerpoint/2010/main" val="34749631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862B1-C3BC-C83F-32F7-8E8629F22F1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Age and Construction Decade</a:t>
            </a:r>
            <a:endParaRPr lang="en-US" dirty="0"/>
          </a:p>
        </p:txBody>
      </p:sp>
      <p:sp>
        <p:nvSpPr>
          <p:cNvPr id="3" name="Content Placeholder 2">
            <a:extLst>
              <a:ext uri="{FF2B5EF4-FFF2-40B4-BE49-F238E27FC236}">
                <a16:creationId xmlns:a16="http://schemas.microsoft.com/office/drawing/2014/main" id="{B05366C7-3268-C83E-4EB9-D8B19AD0A8BC}"/>
              </a:ext>
            </a:extLst>
          </p:cNvPr>
          <p:cNvSpPr>
            <a:spLocks noGrp="1"/>
          </p:cNvSpPr>
          <p:nvPr>
            <p:ph idx="1"/>
          </p:nvPr>
        </p:nvSpPr>
        <p:spPr/>
        <p:txBody>
          <a:bodyPr>
            <a:normAutofit fontScale="92500" lnSpcReduction="10000"/>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Newer properties generally have higher average prices. </a:t>
            </a:r>
          </a:p>
          <a:p>
            <a:r>
              <a:rPr lang="en-US" dirty="0">
                <a:latin typeface="Times New Roman" panose="02020603050405020304" pitchFamily="18" charset="0"/>
                <a:cs typeface="Times New Roman" panose="02020603050405020304" pitchFamily="18" charset="0"/>
              </a:rPr>
              <a:t>Housing prices decrease as buildings age. </a:t>
            </a:r>
          </a:p>
          <a:p>
            <a:r>
              <a:rPr lang="en-US" dirty="0">
                <a:latin typeface="Times New Roman" panose="02020603050405020304" pitchFamily="18" charset="0"/>
                <a:cs typeface="Times New Roman" panose="02020603050405020304" pitchFamily="18" charset="0"/>
              </a:rPr>
              <a:t>Some older historic properties remain valuable. </a:t>
            </a:r>
          </a:p>
          <a:p>
            <a:r>
              <a:rPr lang="en-US" dirty="0">
                <a:latin typeface="Times New Roman" panose="02020603050405020304" pitchFamily="18" charset="0"/>
                <a:cs typeface="Times New Roman" panose="02020603050405020304" pitchFamily="18" charset="0"/>
              </a:rPr>
              <a:t>Construction decade influences market value.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age and construction period significantly affect housing prices.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014073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8C627-F9E0-B3AF-A77F-431DECBB393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KEY FINDINGS</a:t>
            </a:r>
          </a:p>
        </p:txBody>
      </p:sp>
      <p:sp>
        <p:nvSpPr>
          <p:cNvPr id="3" name="Content Placeholder 2">
            <a:extLst>
              <a:ext uri="{FF2B5EF4-FFF2-40B4-BE49-F238E27FC236}">
                <a16:creationId xmlns:a16="http://schemas.microsoft.com/office/drawing/2014/main" id="{FA7FCB0A-BC28-1D67-1F91-F79CAB5784E5}"/>
              </a:ext>
            </a:extLst>
          </p:cNvPr>
          <p:cNvSpPr>
            <a:spLocks noGrp="1"/>
          </p:cNvSpPr>
          <p:nvPr>
            <p:ph idx="1"/>
          </p:nvPr>
        </p:nvSpPr>
        <p:spPr/>
        <p:txBody>
          <a:bodyPr>
            <a:normAutofit fontScale="92500" lnSpcReduction="20000"/>
          </a:bodyPr>
          <a:lstStyle/>
          <a:p>
            <a:r>
              <a:rPr lang="en-US" dirty="0">
                <a:latin typeface="Times New Roman" panose="02020603050405020304" pitchFamily="18" charset="0"/>
                <a:cs typeface="Times New Roman" panose="02020603050405020304" pitchFamily="18" charset="0"/>
              </a:rPr>
              <a:t>Region strongly influences housing prices. </a:t>
            </a:r>
          </a:p>
          <a:p>
            <a:r>
              <a:rPr lang="en-US" dirty="0">
                <a:latin typeface="Times New Roman" panose="02020603050405020304" pitchFamily="18" charset="0"/>
                <a:cs typeface="Times New Roman" panose="02020603050405020304" pitchFamily="18" charset="0"/>
              </a:rPr>
              <a:t>Property size positively affects purchase price. </a:t>
            </a:r>
          </a:p>
          <a:p>
            <a:r>
              <a:rPr lang="en-US" dirty="0">
                <a:latin typeface="Times New Roman" panose="02020603050405020304" pitchFamily="18" charset="0"/>
                <a:cs typeface="Times New Roman" panose="02020603050405020304" pitchFamily="18" charset="0"/>
              </a:rPr>
              <a:t>Villas are generally more expensive. </a:t>
            </a:r>
          </a:p>
          <a:p>
            <a:r>
              <a:rPr lang="en-US" dirty="0">
                <a:latin typeface="Times New Roman" panose="02020603050405020304" pitchFamily="18" charset="0"/>
                <a:cs typeface="Times New Roman" panose="02020603050405020304" pitchFamily="18" charset="0"/>
              </a:rPr>
              <a:t>Copenhagen remains the most expensive area. </a:t>
            </a:r>
          </a:p>
          <a:p>
            <a:r>
              <a:rPr lang="en-US" dirty="0">
                <a:latin typeface="Times New Roman" panose="02020603050405020304" pitchFamily="18" charset="0"/>
                <a:cs typeface="Times New Roman" panose="02020603050405020304" pitchFamily="18" charset="0"/>
              </a:rPr>
              <a:t>Newer properties command higher prices. </a:t>
            </a:r>
          </a:p>
          <a:p>
            <a:r>
              <a:rPr lang="en-US" dirty="0">
                <a:latin typeface="Times New Roman" panose="02020603050405020304" pitchFamily="18" charset="0"/>
                <a:cs typeface="Times New Roman" panose="02020603050405020304" pitchFamily="18" charset="0"/>
              </a:rPr>
              <a:t>Negotiation outcomes differ across regions. </a:t>
            </a:r>
          </a:p>
          <a:p>
            <a:r>
              <a:rPr lang="en-US" dirty="0">
                <a:latin typeface="Times New Roman" panose="02020603050405020304" pitchFamily="18" charset="0"/>
                <a:cs typeface="Times New Roman" panose="02020603050405020304" pitchFamily="18" charset="0"/>
              </a:rPr>
              <a:t>Construction decade affects valuation. </a:t>
            </a:r>
          </a:p>
          <a:p>
            <a:r>
              <a:rPr lang="en-US" dirty="0">
                <a:latin typeface="Times New Roman" panose="02020603050405020304" pitchFamily="18" charset="0"/>
                <a:cs typeface="Times New Roman" panose="02020603050405020304" pitchFamily="18" charset="0"/>
              </a:rPr>
              <a:t>Exploratory Data Analysis successfully identified market trends.</a:t>
            </a:r>
          </a:p>
        </p:txBody>
      </p:sp>
    </p:spTree>
    <p:extLst>
      <p:ext uri="{BB962C8B-B14F-4D97-AF65-F5344CB8AC3E}">
        <p14:creationId xmlns:p14="http://schemas.microsoft.com/office/powerpoint/2010/main" val="19397958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AD861-1E97-9592-A23D-5CCD9B138240}"/>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LIMITATIONS</a:t>
            </a:r>
          </a:p>
        </p:txBody>
      </p:sp>
      <p:sp>
        <p:nvSpPr>
          <p:cNvPr id="3" name="Content Placeholder 2">
            <a:extLst>
              <a:ext uri="{FF2B5EF4-FFF2-40B4-BE49-F238E27FC236}">
                <a16:creationId xmlns:a16="http://schemas.microsoft.com/office/drawing/2014/main" id="{4E1D73CC-BF44-61B6-B995-F8A10CA4B5C5}"/>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Dataset limited to available variables. </a:t>
            </a:r>
          </a:p>
          <a:p>
            <a:r>
              <a:rPr lang="en-US" dirty="0">
                <a:latin typeface="Times New Roman" panose="02020603050405020304" pitchFamily="18" charset="0"/>
                <a:cs typeface="Times New Roman" panose="02020603050405020304" pitchFamily="18" charset="0"/>
              </a:rPr>
              <a:t>Inflation was not considered. </a:t>
            </a:r>
          </a:p>
          <a:p>
            <a:r>
              <a:rPr lang="en-US" dirty="0">
                <a:latin typeface="Times New Roman" panose="02020603050405020304" pitchFamily="18" charset="0"/>
                <a:cs typeface="Times New Roman" panose="02020603050405020304" pitchFamily="18" charset="0"/>
              </a:rPr>
              <a:t>Interest rates were excluded. </a:t>
            </a:r>
          </a:p>
          <a:p>
            <a:r>
              <a:rPr lang="en-US" dirty="0">
                <a:latin typeface="Times New Roman" panose="02020603050405020304" pitchFamily="18" charset="0"/>
                <a:cs typeface="Times New Roman" panose="02020603050405020304" pitchFamily="18" charset="0"/>
              </a:rPr>
              <a:t>Economic indicators were unavailable. </a:t>
            </a:r>
          </a:p>
          <a:p>
            <a:r>
              <a:rPr lang="en-US" dirty="0">
                <a:latin typeface="Times New Roman" panose="02020603050405020304" pitchFamily="18" charset="0"/>
                <a:cs typeface="Times New Roman" panose="02020603050405020304" pitchFamily="18" charset="0"/>
              </a:rPr>
              <a:t>Results are limited to the study period.</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81790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02C5A-3DC9-9DAC-FF90-0AD8DAC5FA8C}"/>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D5030854-253C-D3A1-5987-74173A4BC1FB}"/>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This study successfully applied Exploratory Data Analysis techniques to investigate the Danish housing market. </a:t>
            </a:r>
          </a:p>
          <a:p>
            <a:r>
              <a:rPr lang="en-US" dirty="0">
                <a:latin typeface="Times New Roman" panose="02020603050405020304" pitchFamily="18" charset="0"/>
                <a:cs typeface="Times New Roman" panose="02020603050405020304" pitchFamily="18" charset="0"/>
              </a:rPr>
              <a:t>The analysis revealed that housing prices are influenced by region, property type, property size, negotiation outcomes, property age, and construction decade. </a:t>
            </a:r>
          </a:p>
          <a:p>
            <a:r>
              <a:rPr lang="en-US" dirty="0">
                <a:latin typeface="Times New Roman" panose="02020603050405020304" pitchFamily="18" charset="0"/>
                <a:cs typeface="Times New Roman" panose="02020603050405020304" pitchFamily="18" charset="0"/>
              </a:rPr>
              <a:t>The visualizations and statistical summaries provided meaningful insights that can support informed decision-making for buyers, investors, real estate professionals, and policymakers.</a:t>
            </a:r>
          </a:p>
        </p:txBody>
      </p:sp>
    </p:spTree>
    <p:extLst>
      <p:ext uri="{BB962C8B-B14F-4D97-AF65-F5344CB8AC3E}">
        <p14:creationId xmlns:p14="http://schemas.microsoft.com/office/powerpoint/2010/main" val="39622639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CDDF-CD35-BCEF-E5AC-58ABF48908A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RECOMMENDATIONS</a:t>
            </a:r>
          </a:p>
        </p:txBody>
      </p:sp>
      <p:sp>
        <p:nvSpPr>
          <p:cNvPr id="3" name="Content Placeholder 2">
            <a:extLst>
              <a:ext uri="{FF2B5EF4-FFF2-40B4-BE49-F238E27FC236}">
                <a16:creationId xmlns:a16="http://schemas.microsoft.com/office/drawing/2014/main" id="{5426E9DE-4F84-7CEA-06F4-D269D52A0A4D}"/>
              </a:ext>
            </a:extLst>
          </p:cNvPr>
          <p:cNvSpPr>
            <a:spLocks noGrp="1"/>
          </p:cNvSpPr>
          <p:nvPr>
            <p:ph idx="1"/>
          </p:nvPr>
        </p:nvSpPr>
        <p:spPr/>
        <p:txBody>
          <a:bodyPr>
            <a:normAutofit/>
          </a:bodyPr>
          <a:lstStyle/>
          <a:p>
            <a:r>
              <a:rPr lang="en-US" b="1" dirty="0">
                <a:latin typeface="Times New Roman" panose="02020603050405020304" pitchFamily="18" charset="0"/>
                <a:cs typeface="Times New Roman" panose="02020603050405020304" pitchFamily="18" charset="0"/>
              </a:rPr>
              <a:t>Buyers: </a:t>
            </a:r>
            <a:r>
              <a:rPr lang="en-US" dirty="0">
                <a:latin typeface="Times New Roman" panose="02020603050405020304" pitchFamily="18" charset="0"/>
                <a:cs typeface="Times New Roman" panose="02020603050405020304" pitchFamily="18" charset="0"/>
              </a:rPr>
              <a:t>Consider older houses for affordability.</a:t>
            </a:r>
          </a:p>
          <a:p>
            <a:r>
              <a:rPr lang="en-US" b="1" dirty="0">
                <a:latin typeface="Times New Roman" panose="02020603050405020304" pitchFamily="18" charset="0"/>
                <a:cs typeface="Times New Roman" panose="02020603050405020304" pitchFamily="18" charset="0"/>
              </a:rPr>
              <a:t>Investors: </a:t>
            </a:r>
            <a:r>
              <a:rPr lang="en-US" dirty="0">
                <a:latin typeface="Times New Roman" panose="02020603050405020304" pitchFamily="18" charset="0"/>
                <a:cs typeface="Times New Roman" panose="02020603050405020304" pitchFamily="18" charset="0"/>
              </a:rPr>
              <a:t>Focus on high-growth regions.</a:t>
            </a:r>
          </a:p>
          <a:p>
            <a:r>
              <a:rPr lang="en-US" b="1" dirty="0">
                <a:latin typeface="Times New Roman" panose="02020603050405020304" pitchFamily="18" charset="0"/>
                <a:cs typeface="Times New Roman" panose="02020603050405020304" pitchFamily="18" charset="0"/>
              </a:rPr>
              <a:t>Government: </a:t>
            </a:r>
            <a:r>
              <a:rPr lang="en-US" dirty="0">
                <a:latin typeface="Times New Roman" panose="02020603050405020304" pitchFamily="18" charset="0"/>
                <a:cs typeface="Times New Roman" panose="02020603050405020304" pitchFamily="18" charset="0"/>
              </a:rPr>
              <a:t>Promote balanced regional development.</a:t>
            </a:r>
          </a:p>
          <a:p>
            <a:r>
              <a:rPr lang="en-US" b="1" dirty="0">
                <a:latin typeface="Times New Roman" panose="02020603050405020304" pitchFamily="18" charset="0"/>
                <a:cs typeface="Times New Roman" panose="02020603050405020304" pitchFamily="18" charset="0"/>
              </a:rPr>
              <a:t>Real Estate Agencies: </a:t>
            </a:r>
            <a:r>
              <a:rPr lang="en-US" dirty="0">
                <a:latin typeface="Times New Roman" panose="02020603050405020304" pitchFamily="18" charset="0"/>
                <a:cs typeface="Times New Roman" panose="02020603050405020304" pitchFamily="18" charset="0"/>
              </a:rPr>
              <a:t>Use market insights for pricing strategies.</a:t>
            </a:r>
          </a:p>
          <a:p>
            <a:r>
              <a:rPr lang="en-US" b="1" dirty="0">
                <a:latin typeface="Times New Roman" panose="02020603050405020304" pitchFamily="18" charset="0"/>
                <a:cs typeface="Times New Roman" panose="02020603050405020304" pitchFamily="18" charset="0"/>
              </a:rPr>
              <a:t>Future Researchers: </a:t>
            </a:r>
            <a:r>
              <a:rPr lang="en-US" dirty="0">
                <a:latin typeface="Times New Roman" panose="02020603050405020304" pitchFamily="18" charset="0"/>
                <a:cs typeface="Times New Roman" panose="02020603050405020304" pitchFamily="18" charset="0"/>
              </a:rPr>
              <a:t>Develop machine learning models for price prediction.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1366864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55069-17C8-9C91-2F57-B1B1C742DC8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id="{01ED2D77-1CD6-1CD3-F1D2-AAAAD64FE283}"/>
              </a:ext>
            </a:extLst>
          </p:cNvPr>
          <p:cNvSpPr>
            <a:spLocks noGrp="1"/>
          </p:cNvSpPr>
          <p:nvPr>
            <p:ph idx="1"/>
          </p:nvPr>
        </p:nvSpPr>
        <p:spPr/>
        <p:txBody>
          <a:bodyPr>
            <a:normAutofit fontScale="92500" lnSpcReduction="20000"/>
          </a:bodyPr>
          <a:lstStyle/>
          <a:p>
            <a:r>
              <a:rPr lang="en-US" dirty="0">
                <a:latin typeface="Times New Roman" panose="02020603050405020304" pitchFamily="18" charset="0"/>
                <a:cs typeface="Times New Roman" panose="02020603050405020304" pitchFamily="18" charset="0"/>
              </a:rPr>
              <a:t>Hair, J. F., Black, W. C., Babin, B. J., &amp; Anderson, R. E. (2019). </a:t>
            </a:r>
            <a:r>
              <a:rPr lang="en-US" i="1" dirty="0">
                <a:latin typeface="Times New Roman" panose="02020603050405020304" pitchFamily="18" charset="0"/>
                <a:cs typeface="Times New Roman" panose="02020603050405020304" pitchFamily="18" charset="0"/>
              </a:rPr>
              <a:t>Multivariate Data Analysis</a:t>
            </a:r>
            <a:r>
              <a:rPr lang="en-US" dirty="0">
                <a:latin typeface="Times New Roman" panose="02020603050405020304" pitchFamily="18" charset="0"/>
                <a:cs typeface="Times New Roman" panose="02020603050405020304" pitchFamily="18" charset="0"/>
              </a:rPr>
              <a:t> (8th ed.). Cengage Learning.</a:t>
            </a:r>
          </a:p>
          <a:p>
            <a:r>
              <a:rPr lang="en-US" dirty="0">
                <a:latin typeface="Times New Roman" panose="02020603050405020304" pitchFamily="18" charset="0"/>
                <a:cs typeface="Times New Roman" panose="02020603050405020304" pitchFamily="18" charset="0"/>
              </a:rPr>
              <a:t>Han, J., Kamber, M., &amp; Pei, J. (2012). </a:t>
            </a:r>
            <a:r>
              <a:rPr lang="en-US" i="1" dirty="0">
                <a:latin typeface="Times New Roman" panose="02020603050405020304" pitchFamily="18" charset="0"/>
                <a:cs typeface="Times New Roman" panose="02020603050405020304" pitchFamily="18" charset="0"/>
              </a:rPr>
              <a:t>Data Mining: Concepts and Techniques</a:t>
            </a:r>
            <a:r>
              <a:rPr lang="en-US" dirty="0">
                <a:latin typeface="Times New Roman" panose="02020603050405020304" pitchFamily="18" charset="0"/>
                <a:cs typeface="Times New Roman" panose="02020603050405020304" pitchFamily="18" charset="0"/>
              </a:rPr>
              <a:t> (3rd ed.). Morgan Kaufmann.</a:t>
            </a:r>
          </a:p>
          <a:p>
            <a:r>
              <a:rPr lang="en-US" dirty="0">
                <a:latin typeface="Times New Roman" panose="02020603050405020304" pitchFamily="18" charset="0"/>
                <a:cs typeface="Times New Roman" panose="02020603050405020304" pitchFamily="18" charset="0"/>
              </a:rPr>
              <a:t>James, G., Witten, D., Hastie, T., &amp; </a:t>
            </a:r>
            <a:r>
              <a:rPr lang="en-US" dirty="0" err="1">
                <a:latin typeface="Times New Roman" panose="02020603050405020304" pitchFamily="18" charset="0"/>
                <a:cs typeface="Times New Roman" panose="02020603050405020304" pitchFamily="18" charset="0"/>
              </a:rPr>
              <a:t>Tibshirani</a:t>
            </a:r>
            <a:r>
              <a:rPr lang="en-US" dirty="0">
                <a:latin typeface="Times New Roman" panose="02020603050405020304" pitchFamily="18" charset="0"/>
                <a:cs typeface="Times New Roman" panose="02020603050405020304" pitchFamily="18" charset="0"/>
              </a:rPr>
              <a:t>, R. (2021). </a:t>
            </a:r>
            <a:r>
              <a:rPr lang="en-US" i="1" dirty="0">
                <a:latin typeface="Times New Roman" panose="02020603050405020304" pitchFamily="18" charset="0"/>
                <a:cs typeface="Times New Roman" panose="02020603050405020304" pitchFamily="18" charset="0"/>
              </a:rPr>
              <a:t>An Introduction to Statistical Learning</a:t>
            </a:r>
            <a:r>
              <a:rPr lang="en-US" dirty="0">
                <a:latin typeface="Times New Roman" panose="02020603050405020304" pitchFamily="18" charset="0"/>
                <a:cs typeface="Times New Roman" panose="02020603050405020304" pitchFamily="18" charset="0"/>
              </a:rPr>
              <a:t> (2nd ed.). Springer.</a:t>
            </a:r>
          </a:p>
          <a:p>
            <a:r>
              <a:rPr lang="en-US" dirty="0">
                <a:latin typeface="Times New Roman" panose="02020603050405020304" pitchFamily="18" charset="0"/>
                <a:cs typeface="Times New Roman" panose="02020603050405020304" pitchFamily="18" charset="0"/>
              </a:rPr>
              <a:t>Tukey, J. W. (1977). </a:t>
            </a:r>
            <a:r>
              <a:rPr lang="en-US" i="1" dirty="0">
                <a:latin typeface="Times New Roman" panose="02020603050405020304" pitchFamily="18" charset="0"/>
                <a:cs typeface="Times New Roman" panose="02020603050405020304" pitchFamily="18" charset="0"/>
              </a:rPr>
              <a:t>Exploratory Data Analysis</a:t>
            </a:r>
            <a:r>
              <a:rPr lang="en-US" dirty="0">
                <a:latin typeface="Times New Roman" panose="02020603050405020304" pitchFamily="18" charset="0"/>
                <a:cs typeface="Times New Roman" panose="02020603050405020304" pitchFamily="18" charset="0"/>
              </a:rPr>
              <a:t>. Addison-Wesley.</a:t>
            </a:r>
          </a:p>
          <a:p>
            <a:r>
              <a:rPr lang="en-US" dirty="0">
                <a:latin typeface="Times New Roman" panose="02020603050405020304" pitchFamily="18" charset="0"/>
                <a:cs typeface="Times New Roman" panose="02020603050405020304" pitchFamily="18" charset="0"/>
              </a:rPr>
              <a:t>Rosen, S. (1974). Hedonic prices and implicit markets: Product differentiation in pure competition. </a:t>
            </a:r>
            <a:r>
              <a:rPr lang="en-US" i="1" dirty="0">
                <a:latin typeface="Times New Roman" panose="02020603050405020304" pitchFamily="18" charset="0"/>
                <a:cs typeface="Times New Roman" panose="02020603050405020304" pitchFamily="18" charset="0"/>
              </a:rPr>
              <a:t>Journal of Political Economy, 82</a:t>
            </a:r>
            <a:r>
              <a:rPr lang="en-US" dirty="0">
                <a:latin typeface="Times New Roman" panose="02020603050405020304" pitchFamily="18" charset="0"/>
                <a:cs typeface="Times New Roman" panose="02020603050405020304" pitchFamily="18" charset="0"/>
              </a:rPr>
              <a:t>(1), 34–55.</a:t>
            </a:r>
          </a:p>
        </p:txBody>
      </p:sp>
    </p:spTree>
    <p:extLst>
      <p:ext uri="{BB962C8B-B14F-4D97-AF65-F5344CB8AC3E}">
        <p14:creationId xmlns:p14="http://schemas.microsoft.com/office/powerpoint/2010/main" val="409125087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8E528-42A0-2B13-602D-B311A1F00F7F}"/>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Thank You!</a:t>
            </a:r>
          </a:p>
        </p:txBody>
      </p:sp>
      <p:sp>
        <p:nvSpPr>
          <p:cNvPr id="3" name="Content Placeholder 2">
            <a:extLst>
              <a:ext uri="{FF2B5EF4-FFF2-40B4-BE49-F238E27FC236}">
                <a16:creationId xmlns:a16="http://schemas.microsoft.com/office/drawing/2014/main" id="{0C41CCFB-55D9-489C-1E79-4592C7001574}"/>
              </a:ext>
            </a:extLst>
          </p:cNvPr>
          <p:cNvSpPr>
            <a:spLocks noGrp="1"/>
          </p:cNvSpPr>
          <p:nvPr>
            <p:ph idx="1"/>
          </p:nvPr>
        </p:nvSpPr>
        <p:spPr/>
        <p:txBody>
          <a:bodyPr/>
          <a:lstStyle/>
          <a:p>
            <a:pPr marL="0" indent="0" algn="ctr">
              <a:buNone/>
            </a:pPr>
            <a:endParaRPr lang="en-US" i="1" dirty="0"/>
          </a:p>
          <a:p>
            <a:pPr marL="0" indent="0" algn="ctr">
              <a:buNone/>
            </a:pPr>
            <a:endParaRPr lang="en-US" i="1" dirty="0"/>
          </a:p>
          <a:p>
            <a:pPr marL="0" indent="0" algn="ctr">
              <a:buNone/>
            </a:pPr>
            <a:r>
              <a:rPr lang="en-US" dirty="0">
                <a:latin typeface="Times New Roman" panose="02020603050405020304" pitchFamily="18" charset="0"/>
                <a:cs typeface="Times New Roman" panose="02020603050405020304" pitchFamily="18" charset="0"/>
              </a:rPr>
              <a:t>Thank you for your </a:t>
            </a:r>
            <a:r>
              <a:rPr lang="en-US">
                <a:latin typeface="Times New Roman" panose="02020603050405020304" pitchFamily="18" charset="0"/>
                <a:cs typeface="Times New Roman" panose="02020603050405020304" pitchFamily="18" charset="0"/>
              </a:rPr>
              <a:t>attention.</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158338"/>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Custom 2">
      <a:dk1>
        <a:sysClr val="windowText" lastClr="000000"/>
      </a:dk1>
      <a:lt1>
        <a:sysClr val="window" lastClr="FFFFFF"/>
      </a:lt1>
      <a:dk2>
        <a:srgbClr val="505046"/>
      </a:dk2>
      <a:lt2>
        <a:srgbClr val="EEECE1"/>
      </a:lt2>
      <a:accent1>
        <a:srgbClr val="FFCABC"/>
      </a:accent1>
      <a:accent2>
        <a:srgbClr val="FFBD47"/>
      </a:accent2>
      <a:accent3>
        <a:srgbClr val="B64926"/>
      </a:accent3>
      <a:accent4>
        <a:srgbClr val="FF8427"/>
      </a:accent4>
      <a:accent5>
        <a:srgbClr val="BFBFBF"/>
      </a:accent5>
      <a:accent6>
        <a:srgbClr val="B22600"/>
      </a:accent6>
      <a:hlink>
        <a:srgbClr val="CC9900"/>
      </a:hlink>
      <a:folHlink>
        <a:srgbClr val="666699"/>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298</TotalTime>
  <Words>1610</Words>
  <Application>Microsoft Office PowerPoint</Application>
  <PresentationFormat>Widescreen</PresentationFormat>
  <Paragraphs>241</Paragraphs>
  <Slides>59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59</vt:i4>
      </vt:variant>
    </vt:vector>
  </HeadingPairs>
  <TitlesOfParts>
    <vt:vector size="63" baseType="lpstr">
      <vt:lpstr>Arial</vt:lpstr>
      <vt:lpstr>Garamond</vt:lpstr>
      <vt:lpstr>Times New Roman</vt:lpstr>
      <vt:lpstr>Organic</vt:lpstr>
      <vt:lpstr>     EXPLORATORY DATA ANALYSIS OF THE DANISH HOUSING MARKET: A DATA-DRIVEN APPROACH TO PROPERTY PRICE DETERMINANTS </vt:lpstr>
      <vt:lpstr>Table of Contents</vt:lpstr>
      <vt:lpstr>Table of Contents</vt:lpstr>
      <vt:lpstr>ABSTRACT</vt:lpstr>
      <vt:lpstr>INTRODUCTION</vt:lpstr>
      <vt:lpstr>Aim of the Study</vt:lpstr>
      <vt:lpstr>Objectives</vt:lpstr>
      <vt:lpstr>Literature Review</vt:lpstr>
      <vt:lpstr>Dataset</vt:lpstr>
      <vt:lpstr>Dataset</vt:lpstr>
      <vt:lpstr>Tools Used</vt:lpstr>
      <vt:lpstr>Methodology</vt:lpstr>
      <vt:lpstr>What is the structure of the dataset?</vt:lpstr>
      <vt:lpstr>PowerPoint Presentation</vt:lpstr>
      <vt:lpstr>PowerPoint Presentation</vt:lpstr>
      <vt:lpstr>How were missing values handled and data types converted?</vt:lpstr>
      <vt:lpstr>PowerPoint Presentation</vt:lpstr>
      <vt:lpstr>Which outliers exist?</vt:lpstr>
      <vt:lpstr>PowerPoint Presentation</vt:lpstr>
      <vt:lpstr>How were outliers handled?</vt:lpstr>
      <vt:lpstr>PowerPoint Presentation</vt:lpstr>
      <vt:lpstr>Average and Median Housing Prices by Region</vt:lpstr>
      <vt:lpstr>Average and Median Housing Prices by Region</vt:lpstr>
      <vt:lpstr>Sales Activity Across Regions</vt:lpstr>
      <vt:lpstr>Sales Activity Across Regions</vt:lpstr>
      <vt:lpstr>Property Type Comparison</vt:lpstr>
      <vt:lpstr>Property Type Comparison</vt:lpstr>
      <vt:lpstr>PowerPoint Presentation</vt:lpstr>
      <vt:lpstr>Property Type Comparison Across Regions</vt:lpstr>
      <vt:lpstr>Capital Copenhagen vs Rest of Zealand and East and Mid of Jutland</vt:lpstr>
      <vt:lpstr>Capital Copenhagen vs Rest of Zealand and East and Mid of Jutland</vt:lpstr>
      <vt:lpstr>PowerPoint Presentation</vt:lpstr>
      <vt:lpstr>Capital Copenhagen vs Rest of Zealand and East and Mid of Jutland</vt:lpstr>
      <vt:lpstr>Quarter 3 vs Quarter 4 Analysis of Average Square Meter Price</vt:lpstr>
      <vt:lpstr>Quarter 3 vs Quarter 4 Analysis of Number of Sales</vt:lpstr>
      <vt:lpstr>Quarter 3 vs Quarter 4 Analysis</vt:lpstr>
      <vt:lpstr>Top 5% Most Expensive Properties</vt:lpstr>
      <vt:lpstr>Top 5% Most Expensive Properties</vt:lpstr>
      <vt:lpstr>Top 5% Most Expensive Properties</vt:lpstr>
      <vt:lpstr>Top 5% Most Expensive Properties</vt:lpstr>
      <vt:lpstr>Distribution of Housing Data</vt:lpstr>
      <vt:lpstr>Distribution of Housing Data</vt:lpstr>
      <vt:lpstr>Housing Price Trends Over Time</vt:lpstr>
      <vt:lpstr>Housing Price Trends Over Time</vt:lpstr>
      <vt:lpstr>Housing Price Trends Over Time</vt:lpstr>
      <vt:lpstr>Correlation Analysis</vt:lpstr>
      <vt:lpstr>Correlation Analysis with Purchase Price</vt:lpstr>
      <vt:lpstr>Correlation Analysis</vt:lpstr>
      <vt:lpstr>Negotiation Outcomes</vt:lpstr>
      <vt:lpstr>Negotiation Outcomes</vt:lpstr>
      <vt:lpstr>Property Age and Construction Decade</vt:lpstr>
      <vt:lpstr>Property Age and Construction Decade</vt:lpstr>
      <vt:lpstr>Property Age and Construction Decade</vt:lpstr>
      <vt:lpstr>KEY FINDINGS</vt:lpstr>
      <vt:lpstr>LIMITATIONS</vt:lpstr>
      <vt:lpstr>CONCLUSION</vt:lpstr>
      <vt:lpstr>RECOMMENDATIONS</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12</cp:revision>
  <dcterms:created xsi:type="dcterms:W3CDTF">2026-07-06T11:23:28Z</dcterms:created>
  <dcterms:modified xsi:type="dcterms:W3CDTF">2026-07-13T09:39:29Z</dcterms:modified>
</cp:coreProperties>
</file>